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991b359c7b4ffe" /><Relationship Type="http://schemas.openxmlformats.org/officeDocument/2006/relationships/extended-properties" Target="/docProps/app.xml" Id="Rcedffbb50c1040ef" /><Relationship Type="http://schemas.openxmlformats.org/officeDocument/2006/relationships/officeDocument" Target="/ppt/presentation.xml" Id="Rc7a743169514414a" /></Relationships>
</file>

<file path=ppt/presentation.xml><?xml version="1.0" encoding="utf-8"?>
<p:presentation xmlns:p="http://schemas.openxmlformats.org/presentationml/2006/main">
  <p:sldMasterIdLst>
    <p:sldMasterId xmlns:r="http://schemas.openxmlformats.org/officeDocument/2006/relationships" id="2147483648" r:id="Rb9db41afd9b64782"/>
  </p:sldMasterIdLst>
  <p:notesMasterIdLst>
    <p:notesMasterId xmlns:r="http://schemas.openxmlformats.org/officeDocument/2006/relationships" r:id="R53f99c6b41f44ed8"/>
  </p:notesMasterIdLst>
  <p:sldIdLst>
    <p:sldId xmlns:r="http://schemas.openxmlformats.org/officeDocument/2006/relationships" id="256" r:id="R8fc520aae7fb44aa"/>
    <p:sldId xmlns:r="http://schemas.openxmlformats.org/officeDocument/2006/relationships" id="257" r:id="R87a51abb0cba45af"/>
    <p:sldId xmlns:r="http://schemas.openxmlformats.org/officeDocument/2006/relationships" id="258" r:id="R8ff32d05a1bd4488"/>
    <p:sldId xmlns:r="http://schemas.openxmlformats.org/officeDocument/2006/relationships" id="259" r:id="R0c5ff9c9894b495d"/>
    <p:sldId xmlns:r="http://schemas.openxmlformats.org/officeDocument/2006/relationships" id="260" r:id="R2f26a1eb8d284423"/>
    <p:sldId xmlns:r="http://schemas.openxmlformats.org/officeDocument/2006/relationships" id="261" r:id="R2e960cf9b75949cb"/>
    <p:sldId xmlns:r="http://schemas.openxmlformats.org/officeDocument/2006/relationships" id="262" r:id="Ra7e245056e3b4683"/>
    <p:sldId xmlns:r="http://schemas.openxmlformats.org/officeDocument/2006/relationships" id="263" r:id="R19e38949f74a40d8"/>
    <p:sldId xmlns:r="http://schemas.openxmlformats.org/officeDocument/2006/relationships" id="264" r:id="R4130230ef8ef4b1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4abe81f52a64507" /><Relationship Type="http://schemas.openxmlformats.org/officeDocument/2006/relationships/slideMaster" Target="/ppt/slideMasters/slideMaster1.xml" Id="Rb9db41afd9b64782" /><Relationship Type="http://schemas.openxmlformats.org/officeDocument/2006/relationships/notesMaster" Target="/ppt/notesMasters/notesMaster1.xml" Id="R53f99c6b41f44ed8" /><Relationship Type="http://schemas.openxmlformats.org/officeDocument/2006/relationships/presProps" Target="/ppt/presProps.xml" Id="R396fb3eb88514ce6" /><Relationship Type="http://schemas.openxmlformats.org/officeDocument/2006/relationships/viewProps" Target="/ppt/viewProps.xml" Id="Rdffb81cbdc1b4af4" /><Relationship Type="http://schemas.openxmlformats.org/officeDocument/2006/relationships/tableStyles" Target="/ppt/tableStyles.xml" Id="Rd630517457e54df1" /><Relationship Type="http://schemas.openxmlformats.org/officeDocument/2006/relationships/slide" Target="/ppt/slides/slide1.xml" Id="R8fc520aae7fb44aa" /><Relationship Type="http://schemas.openxmlformats.org/officeDocument/2006/relationships/slide" Target="/ppt/slides/slide2.xml" Id="R87a51abb0cba45af" /><Relationship Type="http://schemas.openxmlformats.org/officeDocument/2006/relationships/slide" Target="/ppt/slides/slide3.xml" Id="R8ff32d05a1bd4488" /><Relationship Type="http://schemas.openxmlformats.org/officeDocument/2006/relationships/slide" Target="/ppt/slides/slide4.xml" Id="R0c5ff9c9894b495d" /><Relationship Type="http://schemas.openxmlformats.org/officeDocument/2006/relationships/slide" Target="/ppt/slides/slide5.xml" Id="R2f26a1eb8d284423" /><Relationship Type="http://schemas.openxmlformats.org/officeDocument/2006/relationships/slide" Target="/ppt/slides/slide6.xml" Id="R2e960cf9b75949cb" /><Relationship Type="http://schemas.openxmlformats.org/officeDocument/2006/relationships/slide" Target="/ppt/slides/slide7.xml" Id="Ra7e245056e3b4683" /><Relationship Type="http://schemas.openxmlformats.org/officeDocument/2006/relationships/slide" Target="/ppt/slides/slide8.xml" Id="R19e38949f74a40d8" /><Relationship Type="http://schemas.openxmlformats.org/officeDocument/2006/relationships/slide" Target="/ppt/slides/slide9.xml" Id="R4130230ef8ef4b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98ed1084f84e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04f029e4c34a99" /><Relationship Type="http://schemas.openxmlformats.org/officeDocument/2006/relationships/notesMaster" Target="/ppt/notesMasters/notesMaster1.xml" Id="R89e03a9bc4154e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b730e4b976435b" /><Relationship Type="http://schemas.openxmlformats.org/officeDocument/2006/relationships/notesMaster" Target="/ppt/notesMasters/notesMaster1.xml" Id="R29b9bcf8b66146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56f2759bb046a3" /><Relationship Type="http://schemas.openxmlformats.org/officeDocument/2006/relationships/notesMaster" Target="/ppt/notesMasters/notesMaster1.xml" Id="R3e41438f91fa47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5a89b94d784173" /><Relationship Type="http://schemas.openxmlformats.org/officeDocument/2006/relationships/notesMaster" Target="/ppt/notesMasters/notesMaster1.xml" Id="R8d22a936d27941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362c93984840ac" /><Relationship Type="http://schemas.openxmlformats.org/officeDocument/2006/relationships/notesMaster" Target="/ppt/notesMasters/notesMaster1.xml" Id="R8c442368fe5547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97a7bfd8674436" /><Relationship Type="http://schemas.openxmlformats.org/officeDocument/2006/relationships/notesMaster" Target="/ppt/notesMasters/notesMaster1.xml" Id="R346b243f64cc4e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39aa2984994d52" /><Relationship Type="http://schemas.openxmlformats.org/officeDocument/2006/relationships/notesMaster" Target="/ppt/notesMasters/notesMaster1.xml" Id="R6865557bf1e64d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9a45835e604c96" /><Relationship Type="http://schemas.openxmlformats.org/officeDocument/2006/relationships/notesMaster" Target="/ppt/notesMasters/notesMaster1.xml" Id="R7f6c3643d49041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88c27d9e024dfb" /><Relationship Type="http://schemas.openxmlformats.org/officeDocument/2006/relationships/notesMaster" Target="/ppt/notesMasters/notesMaster1.xml" Id="R536ffa3644aa4a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Kettoo is a native Android app, browser console and organisation-hosted backend for event communication and coordination. The implementation includes live push-to-talk, messages, venue check-ins and issue workflows. Source: PROJECT_SUMMARY.md and README.md in the Kettoo project, reviewed 10 October 2026. Team name: Codio, as supplied by the presenter. Team number omitted at the presenter's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Kettoo serves event organisers and volunteers working across venue zones. This introduction establishes the operating context before the next slide explains the coordination problem in more detail. Explain that Kettoo connects quick voice communication with persistent messages, zone check-ins and issues that have a confirmed owner and status. The Android app supports direct Nearby communication among approved, permitted phones during outages. Reach depends on direct connectivity, and this is not multi-hop mesh. Issue and check-in operations queue for server recovery. The browser does not implement Nearby.</a:t>
            </a:r>
          </a:p>
          <a:p xmlns:a="http://schemas.openxmlformats.org/drawingml/2006/main">
            <a:r>
              <a:t/>
            </a:r>
          </a:p>
          <a:p xmlns:a="http://schemas.openxmlformats.org/drawingml/2006/main">
            <a:r>
              <a:t>Sources: PROJECT_SUMMARY.md sections 1, 3.3, 3.6, 3.7, 3.8 and 3.9; README.md; docs/nearby-failover.md. The event scenario describes the intended use case, not findings from a user study.</a:t>
            </a:r>
          </a:p>
          <a:p xmlns:a="http://schemas.openxmlformats.org/drawingml/2006/main">
            <a:r>
              <a:t/>
            </a:r>
          </a:p>
          <a:p xmlns:a="http://schemas.openxmlformats.org/drawingml/2006/main">
            <a:r>
              <a:t>Image: actual installed Android screenshot, artifacts/ui-review/2026-10-10/cph2613-comms-installed-final.png. This historical screenshot shows the app off duty. It is not a generated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the coordination challenges Kettoo is designed to address. We have not conducted a user survey or measured response-time savings. Example: a volunteer reports a power issue in a hall. An organiser needs the location, an accountable owner and a later resolution update. The next slide maps these needs to the implemented workflow.</a:t>
            </a:r>
          </a:p>
          <a:p xmlns:a="http://schemas.openxmlformats.org/drawingml/2006/main">
            <a:r>
              <a:t/>
            </a:r>
          </a:p>
          <a:p xmlns:a="http://schemas.openxmlformats.org/drawingml/2006/main">
            <a:r>
              <a:t>Sources: PROJECT_SUMMARY.md sections 1, 3.8 and 3.9; overview_till_phase2.md.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links immediate communication to a durable operational record. Private calls, attachments, messages and archive complement PTT. Ownership changes and acknowledgements need server confirmation. Vosk provides recorded-message English transcription, not live captions. Screenshot is an actual historical installed-app capture and shows the message composer above the keyboard.</a:t>
            </a:r>
          </a:p>
          <a:p xmlns:a="http://schemas.openxmlformats.org/drawingml/2006/main">
            <a:r>
              <a:t/>
            </a:r>
          </a:p>
          <a:p xmlns:a="http://schemas.openxmlformats.org/drawingml/2006/main">
            <a:r>
              <a:t>Sources: PROJECT_SUMMARY.md sections 3.2–3.5, 3.9 and 3.10; docs/ui-ux-review-comms.md; image: artifacts/ui-review/2026-10-10/cph2613-message-log-keyboard-final.png.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derives media room grants and manages speaking leases. SQLite and private files store server state. Android Room and browser IndexedDB preserve pending operations. Nearby is an Android-only direct transport, not a replicated venue database or multi-hop mesh. Vosk runs on-device and in a local server worker, with FFmpeg handling uploaded audio formats. Deployment uses a Node application service, LiveKit and Caddy HTTPS.</a:t>
            </a:r>
          </a:p>
          <a:p xmlns:a="http://schemas.openxmlformats.org/drawingml/2006/main">
            <a:r>
              <a:t/>
            </a:r>
          </a:p>
          <a:p xmlns:a="http://schemas.openxmlformats.org/drawingml/2006/main">
            <a:r>
              <a:t>Sources: PROJECT_SUMMARY.md section 5; README.md; server/package.json; web/package.json; docs/nearby-failover.md; server/speech/README.md.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groups describe implemented capabilities. Acknowledgement, calls and issue ownership need the server. Nearby requires approved phones, permissions and unexpired credentials. Locked-screen key behaviour remains device dependent. The current backend/browser multi-channel model supersedes the original single-team rule; full Android multi-channel acceptance remains open.</a:t>
            </a:r>
          </a:p>
          <a:p xmlns:a="http://schemas.openxmlformats.org/drawingml/2006/main">
            <a:r>
              <a:t/>
            </a:r>
          </a:p>
          <a:p xmlns:a="http://schemas.openxmlformats.org/drawingml/2006/main">
            <a:r>
              <a:t>Sources: PROJECT_SUMMARY.md sections 3.1–3.11; README.md; docs/nearby-failover.md; docs/ui-ux-review-settings.md; server/src/phase2.ts; server/src/db.ts.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live demonstration sequence using implemented features, not a claim that this presentation session performed it. Before presenting, approve all devices, configure a real floor/zone, connect the media service and confirm the English model. Use a designated duty admin if demonstrating private exchanges. Enable Nearby on both approved phones and keep credentials valid. Controlled API-outage testing must keep the access point and radios available. Restore the API after the demonstration. The selected screenshot shows the feature controls with Nearby off and the phone off duty, so enable these before a real demo. The power issue and hall are illustrative.</a:t>
            </a:r>
          </a:p>
          <a:p xmlns:a="http://schemas.openxmlformats.org/drawingml/2006/main">
            <a:r>
              <a:t/>
            </a:r>
          </a:p>
          <a:p xmlns:a="http://schemas.openxmlformats.org/drawingml/2006/main">
            <a:r>
              <a:t>Sources: PROJECT_SUMMARY.md sections 3 and 6; overview_phase3.md demo sequence; docs/nearby-failover.md; image: artifacts/ui-review/2026-10-10/cph2613-settings-installed-final-middle.png.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statements are expected benefits, not measured improvements. The 34/34 result comes from the backend suite run while preparing PROJECT_SUMMARY.md on 10 October 2026, not a fresh run for this deck. Earlier verification counts belong to separate snapshots and must not be summed. Nearby physical tests involved OnePlus CPH2613 and Samsung SM-A356E with the local API paused while the Wi-Fi access point remained available. Playback counters confirm audio output delivery, not subjective intelligibility. Historical builds/lint and specific phone checks do not prove production acceptance. No deployment cost estimate, performance benchmark or maximum volunteer count is established.</a:t>
            </a:r>
          </a:p>
          <a:p xmlns:a="http://schemas.openxmlformats.org/drawingml/2006/main">
            <a:r>
              <a:t/>
            </a:r>
          </a:p>
          <a:p xmlns:a="http://schemas.openxmlformats.org/drawingml/2006/main">
            <a:r>
              <a:t>Sources: PROJECT_SUMMARY.md sections 4, 6 and 7; VERIFICATION.md; overview_till_phase2.md; docs/nearby-failover.md; docs/ui-ux-review-settings.md.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complete workflow: reach a team, retain the report, associate it with a place, confirm responsibility and record resolution. The current project is a development/demo implementation through Phase 3 with selected real-device evidence. Future work is broader device, venue load/range, noise/accent, long-session and deployment acceptance. Nearby remains direct peer-to-peer, and no venue-wide mesh guarantee is claimed.</a:t>
            </a:r>
          </a:p>
          <a:p xmlns:a="http://schemas.openxmlformats.org/drawingml/2006/main">
            <a:r>
              <a:t/>
            </a:r>
          </a:p>
          <a:p xmlns:a="http://schemas.openxmlformats.org/drawingml/2006/main">
            <a:r>
              <a:t>Sources: PROJECT_SUMMARY.md sections 1, 4, 7 and 8; README.md.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ef9629ac1d4a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57ce8a7c9b49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8b597892e04a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932c29f84949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0116c467924e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83ec48039d49d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5faeea75a5e482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811c38cfbc24f0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ad4eec5487440e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948c9182570475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2dbb4720583429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F3F402-29DA-397B-6E58-41B761CB79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C005959-859C-9FF4-7DA1-EFBCD45BB326}"/>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F5F5159-A0B9-48B7-B24B-0C5CDF5AB3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ED97D482-5E9D-56CD-E97C-2EFC9AA741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2AA2CA-913F-B967-9981-52C167C38C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B85FCE-485A-E498-5634-784AC83DCD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53ADFE-FF7E-348C-E6DC-65C560EB926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89AEF3F-F775-A1C5-D8F0-7676B92E29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1044DAD8-0B42-9A76-293D-D6521F81D8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2EE94F-42A2-9FDC-D629-37110730BB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67C00-6B4D-FA6F-9FCB-D01CABC73E6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EB16DC-0F3E-D3BC-67BC-FFAAEAF24BA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559574E-06EE-EC26-FF41-9EBC8C1326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D5C22B6-109B-75C1-7A47-AFFD46B458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2718DB-E9FF-9532-9F37-0223E83DB0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2CD079-1B10-C9E2-5948-F2F55D4FF1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CE2A073-0073-040A-8D3B-4476F1C7026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1D4E2B3-8DCD-BC92-30AE-E66768DCD15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C87165D-20B7-C065-BCA2-259288569D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C84F52A3-0694-3B49-C4BF-A3C50B82E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DE9A3AA-4C02-AE67-E390-0D5374B3D8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09AC31-EAFB-F104-9F4E-7D1A3B8FB9C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1DD5E4A-5469-B1D6-4881-DCD8D6912F0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5322485-984D-D971-FABB-763C6AFB297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4979988-FF9B-DF99-E51C-8B9332E8FE3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9059B1B-0B06-7D73-267E-21F3F9973AD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13C7DA4-2C10-B5B0-CCA8-99702A64E7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8" name="Footer Placeholder 7">
            <a:extLst xmlns:a="http://schemas.openxmlformats.org/drawingml/2006/main">
              <a:ext uri="{FF2B5EF4-FFF2-40B4-BE49-F238E27FC236}">
                <a16:creationId xmlns:a16="http://schemas.microsoft.com/office/drawing/2014/main" id="{320E799F-6B2C-5813-4694-892F5CBAFD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270C304-1F07-F2EA-9805-0272E419DA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7C8011-C5B0-6205-9BA7-CB28ACB813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D87BC55-4130-0601-E83C-808713200D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4" name="Footer Placeholder 3">
            <a:extLst xmlns:a="http://schemas.openxmlformats.org/drawingml/2006/main">
              <a:ext uri="{FF2B5EF4-FFF2-40B4-BE49-F238E27FC236}">
                <a16:creationId xmlns:a16="http://schemas.microsoft.com/office/drawing/2014/main" id="{312FCD70-8107-567D-2971-36C8133E9E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4113FF9-D39E-8E34-FDB0-B884E2430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908A447-04C1-FBF3-64C1-29C93BFBD1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3" name="Footer Placeholder 2">
            <a:extLst xmlns:a="http://schemas.openxmlformats.org/drawingml/2006/main">
              <a:ext uri="{FF2B5EF4-FFF2-40B4-BE49-F238E27FC236}">
                <a16:creationId xmlns:a16="http://schemas.microsoft.com/office/drawing/2014/main" id="{48D4E662-DAF8-3F1B-203E-3E8485EB6D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9DC3EC-A692-FC5F-F987-7A3703EF99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84A290-3141-FCC8-C47C-1CEA49DC884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1EAB294-AE4F-A352-EE1E-B4A7F245098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2C0EC39-B4BD-1D5C-7CB2-0052321FEA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BD12E2D-87CB-A4FF-0BB9-6BDDC1D8B8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1FF5579E-94CA-4674-F098-A1D7093C4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841358-5ADF-6905-5FF1-6777A94C78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2D4035-9F27-EEBE-93DD-E096AB282E1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0EE7BA1C-DAAB-0DD8-DDD5-48883CB0318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31778FC-BEBD-C938-BE03-51BC2617672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40B1503-BBA5-3AAC-9B8B-5F72A0D0AB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883B0703-7FDF-2591-9BE3-F5FCE07D52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1FD893-7364-1498-D708-828C853EF9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366E69-2ECA-BFFA-2B65-4BE0D66667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120EF8F-4CA0-62A5-DF36-FC0A2E469B3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F7EC369-6C42-BC32-3FAE-909D4F8997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05B7EC10-06D3-8C8D-DE3D-41F51E4FC6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09745DB-EFD0-FFC4-E5EA-16344EDAC1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87AF2FF-BDAA-3AB7-C9A9-06093678372D}"/>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FF718A9-6D3D-D1B1-A405-232B4BE8C09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B5AFF1A-5F59-A93F-A14C-80BE15F37B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529D35D8-5DBD-3E03-E320-7F90F67B57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C25B09-DE83-F09C-5439-ECB2093077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799a31e76e49e5" /><Relationship Type="http://schemas.openxmlformats.org/officeDocument/2006/relationships/slideLayout" Target="/ppt/slideLayouts/slideLayout1.xml" Id="R12c10310b7544378" /><Relationship Type="http://schemas.openxmlformats.org/officeDocument/2006/relationships/slideLayout" Target="/ppt/slideLayouts/slideLayout2.xml" Id="R78c54ee6d0924c43" /><Relationship Type="http://schemas.openxmlformats.org/officeDocument/2006/relationships/slideLayout" Target="/ppt/slideLayouts/slideLayout3.xml" Id="Ra509f8215a9243d3" /><Relationship Type="http://schemas.openxmlformats.org/officeDocument/2006/relationships/slideLayout" Target="/ppt/slideLayouts/slideLayout4.xml" Id="R3b1baa91bd2c4263" /><Relationship Type="http://schemas.openxmlformats.org/officeDocument/2006/relationships/slideLayout" Target="/ppt/slideLayouts/slideLayout5.xml" Id="Rebc4dfb3a1ec41a0" /><Relationship Type="http://schemas.openxmlformats.org/officeDocument/2006/relationships/slideLayout" Target="/ppt/slideLayouts/slideLayout6.xml" Id="R857a080a5fc2491d" /><Relationship Type="http://schemas.openxmlformats.org/officeDocument/2006/relationships/slideLayout" Target="/ppt/slideLayouts/slideLayout7.xml" Id="R41f0edc9994749bb" /><Relationship Type="http://schemas.openxmlformats.org/officeDocument/2006/relationships/slideLayout" Target="/ppt/slideLayouts/slideLayout8.xml" Id="R4c4d7f6e1732427d" /><Relationship Type="http://schemas.openxmlformats.org/officeDocument/2006/relationships/slideLayout" Target="/ppt/slideLayouts/slideLayout9.xml" Id="R02cadc3b584a46e5" /><Relationship Type="http://schemas.openxmlformats.org/officeDocument/2006/relationships/slideLayout" Target="/ppt/slideLayouts/slideLayout10.xml" Id="R0984c76952904c24" /><Relationship Type="http://schemas.openxmlformats.org/officeDocument/2006/relationships/slideLayout" Target="/ppt/slideLayouts/slideLayout11.xml" Id="R9abccb80217842b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DF3EE29-B37D-A192-C866-D6B22998B80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D36BDB1-A5B2-569B-716D-889309ED34A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20203BA-4856-4230-C56B-9D0B57A2CAF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AF63C06-D6C4-650C-767C-4FAF55892C8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3BDEA3-C19B-B26E-450A-D4E98A2962A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BDAE67D-547A-4DF3-8AEA-E67819B1E91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c10310b7544378"/>
    <p:sldLayoutId xmlns:r="http://schemas.openxmlformats.org/officeDocument/2006/relationships" id="2147483650" r:id="R78c54ee6d0924c43"/>
    <p:sldLayoutId xmlns:r="http://schemas.openxmlformats.org/officeDocument/2006/relationships" id="2147483651" r:id="Ra509f8215a9243d3"/>
    <p:sldLayoutId xmlns:r="http://schemas.openxmlformats.org/officeDocument/2006/relationships" id="2147483652" r:id="R3b1baa91bd2c4263"/>
    <p:sldLayoutId xmlns:r="http://schemas.openxmlformats.org/officeDocument/2006/relationships" id="2147483653" r:id="Rebc4dfb3a1ec41a0"/>
    <p:sldLayoutId xmlns:r="http://schemas.openxmlformats.org/officeDocument/2006/relationships" id="2147483654" r:id="R857a080a5fc2491d"/>
    <p:sldLayoutId xmlns:r="http://schemas.openxmlformats.org/officeDocument/2006/relationships" id="2147483655" r:id="R41f0edc9994749bb"/>
    <p:sldLayoutId xmlns:r="http://schemas.openxmlformats.org/officeDocument/2006/relationships" id="2147483656" r:id="R4c4d7f6e1732427d"/>
    <p:sldLayoutId xmlns:r="http://schemas.openxmlformats.org/officeDocument/2006/relationships" id="2147483657" r:id="R02cadc3b584a46e5"/>
    <p:sldLayoutId xmlns:r="http://schemas.openxmlformats.org/officeDocument/2006/relationships" id="2147483658" r:id="R0984c76952904c24"/>
    <p:sldLayoutId xmlns:r="http://schemas.openxmlformats.org/officeDocument/2006/relationships" id="2147483659" r:id="R9abccb80217842b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952d041ce4482e" /><Relationship Type="http://schemas.openxmlformats.org/officeDocument/2006/relationships/image" Target="/ppt/media/image.png" Id="R3f316b2c27f840f7" /><Relationship Type="http://schemas.openxmlformats.org/officeDocument/2006/relationships/notesSlide" Target="/ppt/notesSlides/notesSlide1.xml" Id="R91fa7ef3bc6e41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2e46e748464c9b" /><Relationship Type="http://schemas.openxmlformats.org/officeDocument/2006/relationships/image" Target="/ppt/media/image2.png" Id="R08befd12528c46f7" /><Relationship Type="http://schemas.openxmlformats.org/officeDocument/2006/relationships/image" Target="/ppt/media/image3.png" Id="R772de3b84b264a9a" /><Relationship Type="http://schemas.openxmlformats.org/officeDocument/2006/relationships/image" Target="/ppt/media/image4.png" Id="Ra2f4e3fc6ae64ba7" /><Relationship Type="http://schemas.openxmlformats.org/officeDocument/2006/relationships/notesSlide" Target="/ppt/notesSlides/notesSlide2.xml" Id="R79065087e42145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29a33894da4cbd" /><Relationship Type="http://schemas.openxmlformats.org/officeDocument/2006/relationships/image" Target="/ppt/media/image5.png" Id="R6ee7d8b036364b03" /><Relationship Type="http://schemas.openxmlformats.org/officeDocument/2006/relationships/image" Target="/ppt/media/image6.png" Id="R9888a17b92104994" /><Relationship Type="http://schemas.openxmlformats.org/officeDocument/2006/relationships/notesSlide" Target="/ppt/notesSlides/notesSlide3.xml" Id="R651f37fbaf5043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0992fe000641f5" /><Relationship Type="http://schemas.openxmlformats.org/officeDocument/2006/relationships/image" Target="/ppt/media/image7.png" Id="R056db79db6d84ce6" /><Relationship Type="http://schemas.openxmlformats.org/officeDocument/2006/relationships/image" Target="/ppt/media/image8.png" Id="Re9f3b32bc76e4bec" /><Relationship Type="http://schemas.openxmlformats.org/officeDocument/2006/relationships/image" Target="/ppt/media/image9.png" Id="Racee0830b0c744c6" /><Relationship Type="http://schemas.openxmlformats.org/officeDocument/2006/relationships/notesSlide" Target="/ppt/notesSlides/notesSlide4.xml" Id="R798f45ae1a1546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206599c9ab4efd" /><Relationship Type="http://schemas.openxmlformats.org/officeDocument/2006/relationships/image" Target="/ppt/media/image10.png" Id="R4cfd9243c5584161" /><Relationship Type="http://schemas.openxmlformats.org/officeDocument/2006/relationships/image" Target="/ppt/media/image11.png" Id="Ra015d4976241496a" /><Relationship Type="http://schemas.openxmlformats.org/officeDocument/2006/relationships/notesSlide" Target="/ppt/notesSlides/notesSlide5.xml" Id="R36deb887589c46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0e128919d44ae9" /><Relationship Type="http://schemas.openxmlformats.org/officeDocument/2006/relationships/image" Target="/ppt/media/image12.png" Id="R6aee5572cdab401c" /><Relationship Type="http://schemas.openxmlformats.org/officeDocument/2006/relationships/image" Target="/ppt/media/image13.png" Id="R69d7b101016e4645" /><Relationship Type="http://schemas.openxmlformats.org/officeDocument/2006/relationships/notesSlide" Target="/ppt/notesSlides/notesSlide6.xml" Id="R90b29bb506a94b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ebe4d7238647b5" /><Relationship Type="http://schemas.openxmlformats.org/officeDocument/2006/relationships/image" Target="/ppt/media/image14.png" Id="Raf48d65db2044a00" /><Relationship Type="http://schemas.openxmlformats.org/officeDocument/2006/relationships/image" Target="/ppt/media/image15.png" Id="R82bf945e802246fb" /><Relationship Type="http://schemas.openxmlformats.org/officeDocument/2006/relationships/image" Target="/ppt/media/image16.png" Id="R0fb4e3d82c4e451d" /><Relationship Type="http://schemas.openxmlformats.org/officeDocument/2006/relationships/notesSlide" Target="/ppt/notesSlides/notesSlide7.xml" Id="Re09b719ceed745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15da8f03674855" /><Relationship Type="http://schemas.openxmlformats.org/officeDocument/2006/relationships/image" Target="/ppt/media/image17.png" Id="Rb6dadf3ce0f9484f" /><Relationship Type="http://schemas.openxmlformats.org/officeDocument/2006/relationships/image" Target="/ppt/media/image18.png" Id="Rb2c32a49209a4974" /><Relationship Type="http://schemas.openxmlformats.org/officeDocument/2006/relationships/notesSlide" Target="/ppt/notesSlides/notesSlide8.xml" Id="R64630f7fb70342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0e80bf864246f3" /><Relationship Type="http://schemas.openxmlformats.org/officeDocument/2006/relationships/image" Target="/ppt/media/image19.png" Id="R1a6f1d555c8e43ad" /><Relationship Type="http://schemas.openxmlformats.org/officeDocument/2006/relationships/image" Target="/ppt/media/image20.png" Id="R4878ed6a10dc4c6f" /><Relationship Type="http://schemas.openxmlformats.org/officeDocument/2006/relationships/notesSlide" Target="/ppt/notesSlides/notesSlide9.xml" Id="R2a11565a77d7471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52B6F7-0D4F-5AD7-ED24-73548A10714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6FC3E3D0-13A4-D58D-F89F-C27DD182A89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79E9610D-E033-4F65-9339-D6407509B87B}"/>
              </a:ext>
            </a:extLst>
          </p:cNvPr>
          <p:cNvPicPr>
            <a:picLocks xmlns:a="http://schemas.openxmlformats.org/drawingml/2006/main" noChangeAspect="1"/>
          </p:cNvPicPr>
          <p:nvPr/>
        </p:nvPicPr>
        <p:blipFill>
          <a:blip xmlns:r="http://schemas.openxmlformats.org/officeDocument/2006/relationships" xmlns:a="http://schemas.openxmlformats.org/drawingml/2006/main" r:embed="R3f316b2c27f840f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597347F1-28F4-CA71-7AD5-C85684D7431E}"/>
              </a:ext>
            </a:extLst>
          </p:cNvPr>
          <p:cNvSpPr>
            <a:spLocks xmlns:a="http://schemas.openxmlformats.org/drawingml/2006/main" noGrp="1"/>
          </p:cNvSpPr>
          <p:nvPr/>
        </p:nvSpPr>
        <p:spPr>
          <a:xfrm xmlns:a="http://schemas.openxmlformats.org/drawingml/2006/main">
            <a:off x="2595753" y="2955703"/>
            <a:ext cx="7256240"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3600" b="1">
                <a:solidFill>
                  <a:srgbClr val="FFFFFF"/>
                </a:solidFill>
                <a:latin typeface="Arial"/>
                <a:ea typeface="Arial"/>
                <a:cs typeface="Arial"/>
              </a:defRPr>
            </a:defPPr>
          </a:lstStyle>
          <a:p xmlns:a="http://schemas.openxmlformats.org/drawingml/2006/main">
            <a:pPr algn="ctr">
              <a:buNone/>
              <a:defRPr sz="3600" b="1">
                <a:solidFill>
                  <a:srgbClr val="FFFFFF"/>
                </a:solidFill>
                <a:latin typeface="Arial"/>
                <a:ea typeface="Arial"/>
                <a:cs typeface="Arial"/>
              </a:defRPr>
            </a:pPr>
            <a:r>
              <a:rPr sz="3600" b="1">
                <a:solidFill>
                  <a:srgbClr val="FFFFFF"/>
                </a:solidFill>
                <a:latin typeface="Arial"/>
                <a:ea typeface="Arial"/>
                <a:cs typeface="Arial"/>
              </a:rPr>
              <a:t>Team Codio</a:t>
            </a:r>
          </a:p>
        </p:txBody>
      </p:sp>
      <p:sp>
        <p:nvSpPr>
          <p:cNvPr id="7" name="Project name">
            <a:extLst xmlns:a="http://schemas.openxmlformats.org/drawingml/2006/main">
              <a:ext uri="{FF2B5EF4-FFF2-40B4-BE49-F238E27FC236}">
                <a16:creationId xmlns:a16="http://schemas.microsoft.com/office/drawing/2014/main" id="{989555B0-FFFC-422C-A949-DD7464246A4B}"/>
              </a:ext>
            </a:extLst>
          </p:cNvPr>
          <p:cNvSpPr>
            <a:spLocks xmlns:a="http://schemas.openxmlformats.org/drawingml/2006/main" noGrp="1"/>
          </p:cNvSpPr>
          <p:nvPr/>
        </p:nvSpPr>
        <p:spPr>
          <a:xfrm xmlns:a="http://schemas.openxmlformats.org/drawingml/2006/main">
            <a:off x="2476500" y="1666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6600" b="1">
                <a:solidFill>
                  <a:srgbClr val="FFFFFF"/>
                </a:solidFill>
                <a:latin typeface="Arial"/>
                <a:ea typeface="Arial"/>
                <a:cs typeface="Arial"/>
              </a:defRPr>
            </a:defPPr>
          </a:lstStyle>
          <a:p xmlns:a="http://schemas.openxmlformats.org/drawingml/2006/main">
            <a:pPr algn="ctr">
              <a:buNone/>
              <a:defRPr sz="6600" b="1">
                <a:solidFill>
                  <a:srgbClr val="FFFFFF"/>
                </a:solidFill>
                <a:latin typeface="Arial"/>
                <a:ea typeface="Arial"/>
                <a:cs typeface="Arial"/>
              </a:defRPr>
            </a:pPr>
            <a:r>
              <a:rPr sz="6600" b="1">
                <a:solidFill>
                  <a:srgbClr val="FFFFFF"/>
                </a:solidFill>
                <a:latin typeface="Arial"/>
                <a:ea typeface="Arial"/>
                <a:cs typeface="Arial"/>
              </a:rPr>
              <a:t>Kettoo</a:t>
            </a:r>
          </a:p>
        </p:txBody>
      </p:sp>
      <p:sp>
        <p:nvSpPr>
          <p:cNvPr id="8" name="Project description">
            <a:extLst xmlns:a="http://schemas.openxmlformats.org/drawingml/2006/main">
              <a:ext uri="{FF2B5EF4-FFF2-40B4-BE49-F238E27FC236}">
                <a16:creationId xmlns:a16="http://schemas.microsoft.com/office/drawing/2014/main" id="{F35B1182-F060-44C6-9C37-6D19E692A233}"/>
              </a:ext>
            </a:extLst>
          </p:cNvPr>
          <p:cNvSpPr>
            <a:spLocks xmlns:a="http://schemas.openxmlformats.org/drawingml/2006/main" noGrp="1"/>
          </p:cNvSpPr>
          <p:nvPr/>
        </p:nvSpPr>
        <p:spPr>
          <a:xfrm xmlns:a="http://schemas.openxmlformats.org/drawingml/2006/main">
            <a:off x="2286000" y="4543425"/>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0">
                <a:solidFill>
                  <a:srgbClr val="FFFFFF"/>
                </a:solidFill>
                <a:latin typeface="Arial"/>
                <a:ea typeface="Arial"/>
                <a:cs typeface="Arial"/>
              </a:defRPr>
            </a:defPPr>
          </a:lstStyle>
          <a:p xmlns:a="http://schemas.openxmlformats.org/drawingml/2006/main">
            <a:pPr algn="ctr">
              <a:buNone/>
              <a:defRPr sz="1950" b="0">
                <a:solidFill>
                  <a:srgbClr val="FFFFFF"/>
                </a:solidFill>
                <a:latin typeface="Arial"/>
                <a:ea typeface="Arial"/>
                <a:cs typeface="Arial"/>
              </a:defRPr>
            </a:pPr>
            <a:r>
              <a:rPr sz="1950" b="0">
                <a:solidFill>
                  <a:srgbClr val="FFFFFF"/>
                </a:solidFill>
                <a:latin typeface="Arial"/>
                <a:ea typeface="Arial"/>
                <a:cs typeface="Arial"/>
              </a:rPr>
              <a:t>Private communication and coordination for event teams</a:t>
            </a:r>
          </a:p>
        </p:txBody>
      </p:sp>
    </p:spTree>
    <p:extLst>
      <p:ext uri="{BB962C8B-B14F-4D97-AF65-F5344CB8AC3E}">
        <p14:creationId xmlns:p14="http://schemas.microsoft.com/office/powerpoint/2010/main" val="15552308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4C1609-E95C-B768-765B-49443B85F366}"/>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3BF51289-A3E7-01DF-1DCF-273B61B5179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356978CA-B60A-4CFF-A119-A8333E354454}"/>
              </a:ext>
            </a:extLst>
          </p:cNvPr>
          <p:cNvPicPr>
            <a:picLocks xmlns:a="http://schemas.openxmlformats.org/drawingml/2006/main" noChangeAspect="1"/>
          </p:cNvPicPr>
          <p:nvPr/>
        </p:nvPicPr>
        <p:blipFill>
          <a:blip xmlns:r="http://schemas.openxmlformats.org/officeDocument/2006/relationships" xmlns:a="http://schemas.openxmlformats.org/drawingml/2006/main" r:embed="R08befd12528c46f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CD011C5F-A88F-4555-AEBE-C226065D72D9}"/>
              </a:ext>
            </a:extLst>
          </p:cNvPr>
          <p:cNvPicPr>
            <a:picLocks xmlns:a="http://schemas.openxmlformats.org/drawingml/2006/main" noChangeAspect="1"/>
          </p:cNvPicPr>
          <p:nvPr/>
        </p:nvPicPr>
        <p:blipFill>
          <a:blip xmlns:r="http://schemas.openxmlformats.org/officeDocument/2006/relationships" xmlns:a="http://schemas.openxmlformats.org/drawingml/2006/main" r:embed="R772de3b84b264a9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5778E16-AB36-B327-231C-23621FEBF5D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Introduction</a:t>
            </a:r>
          </a:p>
        </p:txBody>
      </p:sp>
      <p:sp>
        <p:nvSpPr>
          <p:cNvPr id="9" name="Introduction headline">
            <a:extLst xmlns:a="http://schemas.openxmlformats.org/drawingml/2006/main">
              <a:ext uri="{FF2B5EF4-FFF2-40B4-BE49-F238E27FC236}">
                <a16:creationId xmlns:a16="http://schemas.microsoft.com/office/drawing/2014/main" id="{CCCE33E5-4330-4AC9-9634-565164065DB5}"/>
              </a:ext>
            </a:extLst>
          </p:cNvPr>
          <p:cNvSpPr>
            <a:spLocks xmlns:a="http://schemas.openxmlformats.org/drawingml/2006/main" noGrp="1"/>
          </p:cNvSpPr>
          <p:nvPr/>
        </p:nvSpPr>
        <p:spPr>
          <a:xfrm xmlns:a="http://schemas.openxmlformats.org/drawingml/2006/main">
            <a:off x="685800" y="125730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1">
                <a:solidFill>
                  <a:srgbClr val="262626"/>
                </a:solidFill>
                <a:latin typeface="Arial"/>
                <a:ea typeface="Arial"/>
                <a:cs typeface="Arial"/>
              </a:defRPr>
            </a:defPPr>
          </a:lstStyle>
          <a:p xmlns:a="http://schemas.openxmlformats.org/drawingml/2006/main">
            <a:pPr algn="l">
              <a:buNone/>
              <a:defRPr sz="3150" b="1">
                <a:solidFill>
                  <a:srgbClr val="262626"/>
                </a:solidFill>
                <a:latin typeface="Arial"/>
                <a:ea typeface="Arial"/>
                <a:cs typeface="Arial"/>
              </a:defRPr>
            </a:pPr>
            <a:r>
              <a:rPr sz="3150" b="1">
                <a:solidFill>
                  <a:srgbClr val="262626"/>
                </a:solidFill>
                <a:latin typeface="Arial"/>
                <a:ea typeface="Arial"/>
                <a:cs typeface="Arial"/>
              </a:rPr>
              <a:t>Communication and coordination</a:t>
            </a:r>
          </a:p>
          <a:p xmlns:a="http://schemas.openxmlformats.org/drawingml/2006/main">
            <a:pPr algn="l">
              <a:buNone/>
              <a:defRPr sz="3150" b="1">
                <a:solidFill>
                  <a:srgbClr val="262626"/>
                </a:solidFill>
                <a:latin typeface="Arial"/>
                <a:ea typeface="Arial"/>
                <a:cs typeface="Arial"/>
              </a:defRPr>
            </a:pPr>
            <a:r>
              <a:rPr sz="3150" b="1">
                <a:solidFill>
                  <a:srgbClr val="262626"/>
                </a:solidFill>
                <a:latin typeface="Arial"/>
                <a:ea typeface="Arial"/>
                <a:cs typeface="Arial"/>
              </a:rPr>
              <a:t>for event teams</a:t>
            </a:r>
          </a:p>
        </p:txBody>
      </p:sp>
      <p:sp>
        <p:nvSpPr>
          <p:cNvPr id="10" name="Event context">
            <a:extLst xmlns:a="http://schemas.openxmlformats.org/drawingml/2006/main">
              <a:ext uri="{FF2B5EF4-FFF2-40B4-BE49-F238E27FC236}">
                <a16:creationId xmlns:a16="http://schemas.microsoft.com/office/drawing/2014/main" id="{690891A6-980B-4140-AF17-08C2D08CC865}"/>
              </a:ext>
            </a:extLst>
          </p:cNvPr>
          <p:cNvSpPr>
            <a:spLocks xmlns:a="http://schemas.openxmlformats.org/drawingml/2006/main" noGrp="1"/>
          </p:cNvSpPr>
          <p:nvPr/>
        </p:nvSpPr>
        <p:spPr>
          <a:xfrm xmlns:a="http://schemas.openxmlformats.org/drawingml/2006/main">
            <a:off x="685800" y="2533650"/>
            <a:ext cx="733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Event teams work across different floors and zones. They need to reach the right people quickly and know who is handling each reported issue.</a:t>
            </a:r>
          </a:p>
        </p:txBody>
      </p:sp>
      <p:sp>
        <p:nvSpPr>
          <p:cNvPr id="11" name="Project introduction">
            <a:extLst xmlns:a="http://schemas.openxmlformats.org/drawingml/2006/main">
              <a:ext uri="{FF2B5EF4-FFF2-40B4-BE49-F238E27FC236}">
                <a16:creationId xmlns:a16="http://schemas.microsoft.com/office/drawing/2014/main" id="{0693A9C9-3B3C-45B5-BC79-AB381E89A3DE}"/>
              </a:ext>
            </a:extLst>
          </p:cNvPr>
          <p:cNvSpPr>
            <a:spLocks xmlns:a="http://schemas.openxmlformats.org/drawingml/2006/main" noGrp="1"/>
          </p:cNvSpPr>
          <p:nvPr/>
        </p:nvSpPr>
        <p:spPr>
          <a:xfrm xmlns:a="http://schemas.openxmlformats.org/drawingml/2006/main">
            <a:off x="685800" y="3800475"/>
            <a:ext cx="7334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Kettoo is a private platform for organisers and volunteers. It combines walkie-talkie voice and messaging with venue check-ins and issue tracking in an Android app and a browser console.</a:t>
            </a:r>
          </a:p>
        </p:txBody>
      </p:sp>
      <p:sp>
        <p:nvSpPr>
          <p:cNvPr id="12" name="Continuity during outages">
            <a:extLst xmlns:a="http://schemas.openxmlformats.org/drawingml/2006/main">
              <a:ext uri="{FF2B5EF4-FFF2-40B4-BE49-F238E27FC236}">
                <a16:creationId xmlns:a16="http://schemas.microsoft.com/office/drawing/2014/main" id="{ECD30F4F-EAD4-4AF8-A955-14FC69F8141B}"/>
              </a:ext>
            </a:extLst>
          </p:cNvPr>
          <p:cNvSpPr>
            <a:spLocks xmlns:a="http://schemas.openxmlformats.org/drawingml/2006/main" noGrp="1"/>
          </p:cNvSpPr>
          <p:nvPr/>
        </p:nvSpPr>
        <p:spPr>
          <a:xfrm xmlns:a="http://schemas.openxmlformats.org/drawingml/2006/main">
            <a:off x="685800" y="5372100"/>
            <a:ext cx="733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55555"/>
                </a:solidFill>
                <a:latin typeface="Arial"/>
                <a:ea typeface="Arial"/>
                <a:cs typeface="Arial"/>
              </a:defRPr>
            </a:defPPr>
          </a:lstStyle>
          <a:p xmlns:a="http://schemas.openxmlformats.org/drawingml/2006/main">
            <a:pPr algn="l">
              <a:buNone/>
              <a:defRPr sz="1800" b="0">
                <a:solidFill>
                  <a:srgbClr val="555555"/>
                </a:solidFill>
                <a:latin typeface="Arial"/>
                <a:ea typeface="Arial"/>
                <a:cs typeface="Arial"/>
              </a:defRPr>
            </a:pPr>
            <a:r>
              <a:rPr sz="1800" b="0">
                <a:solidFill>
                  <a:srgbClr val="555555"/>
                </a:solidFill>
                <a:latin typeface="Arial"/>
                <a:ea typeface="Arial"/>
                <a:cs typeface="Arial"/>
              </a:rPr>
              <a:t>Local queues and direct Nearby communication help approved Android phones continue during outages.</a:t>
            </a:r>
          </a:p>
        </p:txBody>
      </p:sp>
      <p:pic>
        <p:nvPicPr>
          <p:cNvPr id="13" name="">
            <a:extLst xmlns:a="http://schemas.openxmlformats.org/drawingml/2006/main">
              <a:ext uri="{FF2B5EF4-FFF2-40B4-BE49-F238E27FC236}">
                <a16:creationId xmlns:a16="http://schemas.microsoft.com/office/drawing/2014/main" id="{FBFD64AF-5A4D-4A2A-A82F-C865D45AE159}"/>
              </a:ext>
            </a:extLst>
          </p:cNvPr>
          <p:cNvPicPr>
            <a:picLocks xmlns:a="http://schemas.openxmlformats.org/drawingml/2006/main" noChangeAspect="1"/>
          </p:cNvPicPr>
          <p:nvPr/>
        </p:nvPicPr>
        <p:blipFill>
          <a:blip xmlns:r="http://schemas.openxmlformats.org/officeDocument/2006/relationships" xmlns:a="http://schemas.openxmlformats.org/drawingml/2006/main" r:embed="Ra2f4e3fc6ae64ba7"/>
          <a:srcRect xmlns:a="http://schemas.openxmlformats.org/drawingml/2006/main" l="0" t="0" r="0" b="0"/>
          <a:stretch xmlns:a="http://schemas.openxmlformats.org/drawingml/2006/main">
            <a:fillRect l="0" t="0" r="0" b="0"/>
          </a:stretch>
        </p:blipFill>
        <p:spPr>
          <a:xfrm xmlns:a="http://schemas.openxmlformats.org/drawingml/2006/main">
            <a:off x="8915542" y="1152525"/>
            <a:ext cx="2247616" cy="5019675"/>
          </a:xfrm>
          <a:prstGeom xmlns:a="http://schemas.openxmlformats.org/drawingml/2006/main" prst="rect">
            <a:avLst/>
          </a:prstGeom>
        </p:spPr>
      </p:pic>
      <p:sp>
        <p:nvSpPr>
          <p:cNvPr id="14" name="Screenshot caption">
            <a:extLst xmlns:a="http://schemas.openxmlformats.org/drawingml/2006/main">
              <a:ext uri="{FF2B5EF4-FFF2-40B4-BE49-F238E27FC236}">
                <a16:creationId xmlns:a16="http://schemas.microsoft.com/office/drawing/2014/main" id="{DF0A628B-AB63-486F-88BC-47053C1AD759}"/>
              </a:ext>
            </a:extLst>
          </p:cNvPr>
          <p:cNvSpPr>
            <a:spLocks xmlns:a="http://schemas.openxmlformats.org/drawingml/2006/main" noGrp="1"/>
          </p:cNvSpPr>
          <p:nvPr/>
        </p:nvSpPr>
        <p:spPr>
          <a:xfrm xmlns:a="http://schemas.openxmlformats.org/drawingml/2006/main">
            <a:off x="8915400" y="626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buNone/>
              <a:defRPr sz="1500" b="0">
                <a:solidFill>
                  <a:srgbClr val="666666"/>
                </a:solidFill>
                <a:latin typeface="Arial"/>
                <a:ea typeface="Arial"/>
                <a:cs typeface="Arial"/>
              </a:defRPr>
            </a:pPr>
            <a:r>
              <a:rPr sz="1500" b="0">
                <a:solidFill>
                  <a:srgbClr val="666666"/>
                </a:solidFill>
                <a:latin typeface="Arial"/>
                <a:ea typeface="Arial"/>
                <a:cs typeface="Arial"/>
              </a:rPr>
              <a:t>Kettoo Android app</a:t>
            </a:r>
          </a:p>
        </p:txBody>
      </p:sp>
    </p:spTree>
    <p:extLst>
      <p:ext uri="{BB962C8B-B14F-4D97-AF65-F5344CB8AC3E}">
        <p14:creationId xmlns:p14="http://schemas.microsoft.com/office/powerpoint/2010/main" val="11871967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CAE5ED-0FE5-F1F9-21B0-5D1D40127A1C}"/>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1E34A61-8301-BDD1-6695-EFF8B575F30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0A5B2590-7DD5-40D2-9584-AA66230C45A8}"/>
              </a:ext>
            </a:extLst>
          </p:cNvPr>
          <p:cNvPicPr>
            <a:picLocks xmlns:a="http://schemas.openxmlformats.org/drawingml/2006/main" noChangeAspect="1"/>
          </p:cNvPicPr>
          <p:nvPr/>
        </p:nvPicPr>
        <p:blipFill>
          <a:blip xmlns:r="http://schemas.openxmlformats.org/officeDocument/2006/relationships" xmlns:a="http://schemas.openxmlformats.org/drawingml/2006/main" r:embed="R6ee7d8b036364b0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7E229509-6F7B-41A6-B5BC-FDECAA1EBCA5}"/>
              </a:ext>
            </a:extLst>
          </p:cNvPr>
          <p:cNvPicPr>
            <a:picLocks xmlns:a="http://schemas.openxmlformats.org/drawingml/2006/main" noChangeAspect="1"/>
          </p:cNvPicPr>
          <p:nvPr/>
        </p:nvPicPr>
        <p:blipFill>
          <a:blip xmlns:r="http://schemas.openxmlformats.org/officeDocument/2006/relationships" xmlns:a="http://schemas.openxmlformats.org/drawingml/2006/main" r:embed="R9888a17b921049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680F1E4-89DE-A828-3167-54A44B825891}"/>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Problem Statement</a:t>
            </a:r>
          </a:p>
        </p:txBody>
      </p:sp>
      <p:sp>
        <p:nvSpPr>
          <p:cNvPr id="9" name="Content headline">
            <a:extLst xmlns:a="http://schemas.openxmlformats.org/drawingml/2006/main">
              <a:ext uri="{FF2B5EF4-FFF2-40B4-BE49-F238E27FC236}">
                <a16:creationId xmlns:a16="http://schemas.microsoft.com/office/drawing/2014/main" id="{57F3776D-4FE6-4BF0-A7C2-AB9554032EE9}"/>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 spoken request still needs</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 location, an owner and a record</a:t>
            </a:r>
          </a:p>
        </p:txBody>
      </p:sp>
      <p:sp>
        <p:nvSpPr>
          <p:cNvPr id="10" name="Operating scenario">
            <a:extLst xmlns:a="http://schemas.openxmlformats.org/drawingml/2006/main">
              <a:ext uri="{FF2B5EF4-FFF2-40B4-BE49-F238E27FC236}">
                <a16:creationId xmlns:a16="http://schemas.microsoft.com/office/drawing/2014/main" id="{3397DF20-30A1-42B0-BAD5-9D50FE92221D}"/>
              </a:ext>
            </a:extLst>
          </p:cNvPr>
          <p:cNvSpPr>
            <a:spLocks xmlns:a="http://schemas.openxmlformats.org/drawingml/2006/main" noGrp="1"/>
          </p:cNvSpPr>
          <p:nvPr/>
        </p:nvSpPr>
        <p:spPr>
          <a:xfrm xmlns:a="http://schemas.openxmlformats.org/drawingml/2006/main">
            <a:off x="685800" y="25050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262626"/>
                </a:solidFill>
                <a:latin typeface="Arial"/>
                <a:ea typeface="Arial"/>
                <a:cs typeface="Arial"/>
              </a:defRPr>
            </a:defPPr>
          </a:lstStyle>
          <a:p xmlns:a="http://schemas.openxmlformats.org/drawingml/2006/main">
            <a:pPr algn="l">
              <a:defRPr sz="2100" b="0">
                <a:solidFill>
                  <a:srgbClr val="262626"/>
                </a:solidFill>
                <a:latin typeface="Arial"/>
                <a:ea typeface="Arial"/>
                <a:cs typeface="Arial"/>
              </a:defRPr>
            </a:pPr>
            <a:r>
              <a:rPr sz="2100" b="0">
                <a:solidFill>
                  <a:srgbClr val="262626"/>
                </a:solidFill>
                <a:latin typeface="Arial"/>
                <a:ea typeface="Arial"/>
                <a:cs typeface="Arial"/>
              </a:rPr>
              <a:t>During an event, volunteers work in different zones. A request for help needs to reach the right team and remain visible until someone resolves it.</a:t>
            </a:r>
          </a:p>
        </p:txBody>
      </p:sp>
      <p:sp>
        <p:nvSpPr>
          <p:cNvPr id="11" name="Problem 1">
            <a:extLst xmlns:a="http://schemas.openxmlformats.org/drawingml/2006/main">
              <a:ext uri="{FF2B5EF4-FFF2-40B4-BE49-F238E27FC236}">
                <a16:creationId xmlns:a16="http://schemas.microsoft.com/office/drawing/2014/main" id="{6A2A2E35-0D08-4FD5-B14F-2D8ED5B389AB}"/>
              </a:ext>
            </a:extLst>
          </p:cNvPr>
          <p:cNvSpPr>
            <a:spLocks xmlns:a="http://schemas.openxmlformats.org/drawingml/2006/main" noGrp="1"/>
          </p:cNvSpPr>
          <p:nvPr/>
        </p:nvSpPr>
        <p:spPr>
          <a:xfrm xmlns:a="http://schemas.openxmlformats.org/drawingml/2006/main">
            <a:off x="685800" y="36576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Reaching the right people</a:t>
            </a:r>
          </a:p>
        </p:txBody>
      </p:sp>
      <p:sp>
        <p:nvSpPr>
          <p:cNvPr id="12" name="Problem detail 1">
            <a:extLst xmlns:a="http://schemas.openxmlformats.org/drawingml/2006/main">
              <a:ext uri="{FF2B5EF4-FFF2-40B4-BE49-F238E27FC236}">
                <a16:creationId xmlns:a16="http://schemas.microsoft.com/office/drawing/2014/main" id="{D8F7B192-EF6A-4AEF-B9A5-A584E675EB6B}"/>
              </a:ext>
            </a:extLst>
          </p:cNvPr>
          <p:cNvSpPr>
            <a:spLocks xmlns:a="http://schemas.openxmlformats.org/drawingml/2006/main" noGrp="1"/>
          </p:cNvSpPr>
          <p:nvPr/>
        </p:nvSpPr>
        <p:spPr>
          <a:xfrm xmlns:a="http://schemas.openxmlformats.org/drawingml/2006/main">
            <a:off x="4600575" y="36576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defRPr sz="1950" b="0">
                <a:solidFill>
                  <a:srgbClr val="262626"/>
                </a:solidFill>
                <a:latin typeface="Arial"/>
                <a:ea typeface="Arial"/>
                <a:cs typeface="Arial"/>
              </a:defRPr>
            </a:pPr>
            <a:r>
              <a:rPr sz="1950" b="0">
                <a:solidFill>
                  <a:srgbClr val="262626"/>
                </a:solidFill>
                <a:latin typeface="Arial"/>
                <a:ea typeface="Arial"/>
                <a:cs typeface="Arial"/>
              </a:rPr>
              <a:t>Separate conversations can make urgent updates difficult to route.</a:t>
            </a:r>
          </a:p>
        </p:txBody>
      </p:sp>
      <p:sp>
        <p:nvSpPr>
          <p:cNvPr id="13" name="Problem 2">
            <a:extLst xmlns:a="http://schemas.openxmlformats.org/drawingml/2006/main">
              <a:ext uri="{FF2B5EF4-FFF2-40B4-BE49-F238E27FC236}">
                <a16:creationId xmlns:a16="http://schemas.microsoft.com/office/drawing/2014/main" id="{21BA5017-A708-4E84-B452-D97960DB90A7}"/>
              </a:ext>
            </a:extLst>
          </p:cNvPr>
          <p:cNvSpPr>
            <a:spLocks xmlns:a="http://schemas.openxmlformats.org/drawingml/2006/main" noGrp="1"/>
          </p:cNvSpPr>
          <p:nvPr/>
        </p:nvSpPr>
        <p:spPr>
          <a:xfrm xmlns:a="http://schemas.openxmlformats.org/drawingml/2006/main">
            <a:off x="685800" y="45720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Keeping track of responsibility</a:t>
            </a:r>
          </a:p>
        </p:txBody>
      </p:sp>
      <p:sp>
        <p:nvSpPr>
          <p:cNvPr id="14" name="Problem detail 2">
            <a:extLst xmlns:a="http://schemas.openxmlformats.org/drawingml/2006/main">
              <a:ext uri="{FF2B5EF4-FFF2-40B4-BE49-F238E27FC236}">
                <a16:creationId xmlns:a16="http://schemas.microsoft.com/office/drawing/2014/main" id="{7D096A9C-D6C6-44D5-909D-7A1C84328F66}"/>
              </a:ext>
            </a:extLst>
          </p:cNvPr>
          <p:cNvSpPr>
            <a:spLocks xmlns:a="http://schemas.openxmlformats.org/drawingml/2006/main" noGrp="1"/>
          </p:cNvSpPr>
          <p:nvPr/>
        </p:nvSpPr>
        <p:spPr>
          <a:xfrm xmlns:a="http://schemas.openxmlformats.org/drawingml/2006/main">
            <a:off x="4600575" y="45720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defRPr sz="1950" b="0">
                <a:solidFill>
                  <a:srgbClr val="262626"/>
                </a:solidFill>
                <a:latin typeface="Arial"/>
                <a:ea typeface="Arial"/>
                <a:cs typeface="Arial"/>
              </a:defRPr>
            </a:pPr>
            <a:r>
              <a:rPr sz="1950" b="0">
                <a:solidFill>
                  <a:srgbClr val="262626"/>
                </a:solidFill>
                <a:latin typeface="Arial"/>
                <a:ea typeface="Arial"/>
                <a:cs typeface="Arial"/>
              </a:rPr>
              <a:t>A voice exchange alone does not show who owns an issue or whether it is resolved.</a:t>
            </a:r>
          </a:p>
        </p:txBody>
      </p:sp>
      <p:sp>
        <p:nvSpPr>
          <p:cNvPr id="15" name="Problem 3">
            <a:extLst xmlns:a="http://schemas.openxmlformats.org/drawingml/2006/main">
              <a:ext uri="{FF2B5EF4-FFF2-40B4-BE49-F238E27FC236}">
                <a16:creationId xmlns:a16="http://schemas.microsoft.com/office/drawing/2014/main" id="{2B72AE58-4D97-451D-AB40-844D592EFFF2}"/>
              </a:ext>
            </a:extLst>
          </p:cNvPr>
          <p:cNvSpPr>
            <a:spLocks xmlns:a="http://schemas.openxmlformats.org/drawingml/2006/main" noGrp="1"/>
          </p:cNvSpPr>
          <p:nvPr/>
        </p:nvSpPr>
        <p:spPr>
          <a:xfrm xmlns:a="http://schemas.openxmlformats.org/drawingml/2006/main">
            <a:off x="685800" y="54864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Working through an outage</a:t>
            </a:r>
          </a:p>
        </p:txBody>
      </p:sp>
      <p:sp>
        <p:nvSpPr>
          <p:cNvPr id="16" name="Problem detail 3">
            <a:extLst xmlns:a="http://schemas.openxmlformats.org/drawingml/2006/main">
              <a:ext uri="{FF2B5EF4-FFF2-40B4-BE49-F238E27FC236}">
                <a16:creationId xmlns:a16="http://schemas.microsoft.com/office/drawing/2014/main" id="{5A8DE864-5827-499B-BA49-962DEAE2E6D4}"/>
              </a:ext>
            </a:extLst>
          </p:cNvPr>
          <p:cNvSpPr>
            <a:spLocks xmlns:a="http://schemas.openxmlformats.org/drawingml/2006/main" noGrp="1"/>
          </p:cNvSpPr>
          <p:nvPr/>
        </p:nvSpPr>
        <p:spPr>
          <a:xfrm xmlns:a="http://schemas.openxmlformats.org/drawingml/2006/main">
            <a:off x="4600575" y="54864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defRPr sz="1950" b="0">
                <a:solidFill>
                  <a:srgbClr val="262626"/>
                </a:solidFill>
                <a:latin typeface="Arial"/>
                <a:ea typeface="Arial"/>
                <a:cs typeface="Arial"/>
              </a:defRPr>
            </a:pPr>
            <a:r>
              <a:rPr sz="1950" b="0">
                <a:solidFill>
                  <a:srgbClr val="262626"/>
                </a:solidFill>
                <a:latin typeface="Arial"/>
                <a:ea typeface="Arial"/>
                <a:cs typeface="Arial"/>
              </a:rPr>
              <a:t>Loss of the server connection can interrupt communication and delay updates.</a:t>
            </a:r>
          </a:p>
        </p:txBody>
      </p:sp>
    </p:spTree>
    <p:extLst>
      <p:ext uri="{BB962C8B-B14F-4D97-AF65-F5344CB8AC3E}">
        <p14:creationId xmlns:p14="http://schemas.microsoft.com/office/powerpoint/2010/main" val="7377560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1CFDC9-1316-20F8-3E5A-445CDAD2CA44}"/>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456CF8F9-540D-A9CB-CFFA-955301321115}"/>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861F3A6F-514F-4C6D-8160-F9A8AF0C5B0B}"/>
              </a:ext>
            </a:extLst>
          </p:cNvPr>
          <p:cNvPicPr>
            <a:picLocks xmlns:a="http://schemas.openxmlformats.org/drawingml/2006/main" noChangeAspect="1"/>
          </p:cNvPicPr>
          <p:nvPr/>
        </p:nvPicPr>
        <p:blipFill>
          <a:blip xmlns:r="http://schemas.openxmlformats.org/officeDocument/2006/relationships" xmlns:a="http://schemas.openxmlformats.org/drawingml/2006/main" r:embed="R056db79db6d84ce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7BA762D5-2279-4E89-97F6-6E7F40EC4D0D}"/>
              </a:ext>
            </a:extLst>
          </p:cNvPr>
          <p:cNvPicPr>
            <a:picLocks xmlns:a="http://schemas.openxmlformats.org/drawingml/2006/main" noChangeAspect="1"/>
          </p:cNvPicPr>
          <p:nvPr/>
        </p:nvPicPr>
        <p:blipFill>
          <a:blip xmlns:r="http://schemas.openxmlformats.org/officeDocument/2006/relationships" xmlns:a="http://schemas.openxmlformats.org/drawingml/2006/main" r:embed="Re9f3b32bc76e4be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BDA9BCA3-4C87-7F41-5A3C-34B94BE2D2A0}"/>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Proposed Solution</a:t>
            </a:r>
          </a:p>
        </p:txBody>
      </p:sp>
      <p:sp>
        <p:nvSpPr>
          <p:cNvPr id="9" name="Solution headline">
            <a:extLst xmlns:a="http://schemas.openxmlformats.org/drawingml/2006/main">
              <a:ext uri="{FF2B5EF4-FFF2-40B4-BE49-F238E27FC236}">
                <a16:creationId xmlns:a16="http://schemas.microsoft.com/office/drawing/2014/main" id="{7E2ADBED-4CD9-4697-8335-B6E242981BB8}"/>
              </a:ext>
            </a:extLst>
          </p:cNvPr>
          <p:cNvSpPr>
            <a:spLocks xmlns:a="http://schemas.openxmlformats.org/drawingml/2006/main" noGrp="1"/>
          </p:cNvSpPr>
          <p:nvPr/>
        </p:nvSpPr>
        <p:spPr>
          <a:xfrm xmlns:a="http://schemas.openxmlformats.org/drawingml/2006/main">
            <a:off x="685800" y="1219200"/>
            <a:ext cx="781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One workspace for communication</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and follow-through</a:t>
            </a:r>
          </a:p>
        </p:txBody>
      </p:sp>
      <p:sp>
        <p:nvSpPr>
          <p:cNvPr id="10" name="Solution introduction">
            <a:extLst xmlns:a="http://schemas.openxmlformats.org/drawingml/2006/main">
              <a:ext uri="{FF2B5EF4-FFF2-40B4-BE49-F238E27FC236}">
                <a16:creationId xmlns:a16="http://schemas.microsoft.com/office/drawing/2014/main" id="{7A21E5DC-2934-4422-BDE9-EEB97D4A6ED7}"/>
              </a:ext>
            </a:extLst>
          </p:cNvPr>
          <p:cNvSpPr>
            <a:spLocks xmlns:a="http://schemas.openxmlformats.org/drawingml/2006/main" noGrp="1"/>
          </p:cNvSpPr>
          <p:nvPr/>
        </p:nvSpPr>
        <p:spPr>
          <a:xfrm xmlns:a="http://schemas.openxmlformats.org/drawingml/2006/main">
            <a:off x="685800" y="2514600"/>
            <a:ext cx="7429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262626"/>
                </a:solidFill>
                <a:latin typeface="Arial"/>
                <a:ea typeface="Arial"/>
                <a:cs typeface="Arial"/>
              </a:defRPr>
            </a:defPPr>
          </a:lstStyle>
          <a:p xmlns:a="http://schemas.openxmlformats.org/drawingml/2006/main">
            <a:pPr algn="l">
              <a:defRPr sz="2100" b="0">
                <a:solidFill>
                  <a:srgbClr val="262626"/>
                </a:solidFill>
                <a:latin typeface="Arial"/>
                <a:ea typeface="Arial"/>
                <a:cs typeface="Arial"/>
              </a:defRPr>
            </a:pPr>
            <a:r>
              <a:rPr sz="2100" b="0">
                <a:solidFill>
                  <a:srgbClr val="262626"/>
                </a:solidFill>
                <a:latin typeface="Arial"/>
                <a:ea typeface="Arial"/>
                <a:cs typeface="Arial"/>
              </a:rPr>
              <a:t>Kettoo connects volunteers in the Android app with organisers in the browser console, using an organisation-hosted server.</a:t>
            </a:r>
          </a:p>
        </p:txBody>
      </p:sp>
      <p:sp>
        <p:nvSpPr>
          <p:cNvPr id="11" name="Solution label 0">
            <a:extLst xmlns:a="http://schemas.openxmlformats.org/drawingml/2006/main">
              <a:ext uri="{FF2B5EF4-FFF2-40B4-BE49-F238E27FC236}">
                <a16:creationId xmlns:a16="http://schemas.microsoft.com/office/drawing/2014/main" id="{DF53BC97-3DFA-42EC-84DA-7FDFE36B97E0}"/>
              </a:ext>
            </a:extLst>
          </p:cNvPr>
          <p:cNvSpPr>
            <a:spLocks xmlns:a="http://schemas.openxmlformats.org/drawingml/2006/main" noGrp="1"/>
          </p:cNvSpPr>
          <p:nvPr/>
        </p:nvSpPr>
        <p:spPr>
          <a:xfrm xmlns:a="http://schemas.openxmlformats.org/drawingml/2006/main">
            <a:off x="685800" y="34290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defRPr sz="1950" b="1">
                <a:solidFill>
                  <a:srgbClr val="262626"/>
                </a:solidFill>
                <a:latin typeface="Arial"/>
                <a:ea typeface="Arial"/>
                <a:cs typeface="Arial"/>
              </a:defRPr>
            </a:pPr>
            <a:r>
              <a:rPr sz="1950" b="1">
                <a:solidFill>
                  <a:srgbClr val="262626"/>
                </a:solidFill>
                <a:latin typeface="Arial"/>
                <a:ea typeface="Arial"/>
                <a:cs typeface="Arial"/>
              </a:rPr>
              <a:t>Talk to the right team</a:t>
            </a:r>
          </a:p>
        </p:txBody>
      </p:sp>
      <p:sp>
        <p:nvSpPr>
          <p:cNvPr id="12" name="Solution detail 0">
            <a:extLst xmlns:a="http://schemas.openxmlformats.org/drawingml/2006/main">
              <a:ext uri="{FF2B5EF4-FFF2-40B4-BE49-F238E27FC236}">
                <a16:creationId xmlns:a16="http://schemas.microsoft.com/office/drawing/2014/main" id="{0BB13A32-4014-483A-A875-04B391379DA2}"/>
              </a:ext>
            </a:extLst>
          </p:cNvPr>
          <p:cNvSpPr>
            <a:spLocks xmlns:a="http://schemas.openxmlformats.org/drawingml/2006/main" noGrp="1"/>
          </p:cNvSpPr>
          <p:nvPr/>
        </p:nvSpPr>
        <p:spPr>
          <a:xfrm xmlns:a="http://schemas.openxmlformats.org/drawingml/2006/main">
            <a:off x="685800" y="378142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Use channel PTT, duty-admin exchanges and targeted broadcasts.</a:t>
            </a:r>
          </a:p>
        </p:txBody>
      </p:sp>
      <p:sp>
        <p:nvSpPr>
          <p:cNvPr id="13" name="Solution label 1">
            <a:extLst xmlns:a="http://schemas.openxmlformats.org/drawingml/2006/main">
              <a:ext uri="{FF2B5EF4-FFF2-40B4-BE49-F238E27FC236}">
                <a16:creationId xmlns:a16="http://schemas.microsoft.com/office/drawing/2014/main" id="{CB775A7C-6767-487E-8607-7AEA52A59692}"/>
              </a:ext>
            </a:extLst>
          </p:cNvPr>
          <p:cNvSpPr>
            <a:spLocks xmlns:a="http://schemas.openxmlformats.org/drawingml/2006/main" noGrp="1"/>
          </p:cNvSpPr>
          <p:nvPr/>
        </p:nvSpPr>
        <p:spPr>
          <a:xfrm xmlns:a="http://schemas.openxmlformats.org/drawingml/2006/main">
            <a:off x="685800" y="447675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defRPr sz="1950" b="1">
                <a:solidFill>
                  <a:srgbClr val="262626"/>
                </a:solidFill>
                <a:latin typeface="Arial"/>
                <a:ea typeface="Arial"/>
                <a:cs typeface="Arial"/>
              </a:defRPr>
            </a:pPr>
            <a:r>
              <a:rPr sz="1950" b="1">
                <a:solidFill>
                  <a:srgbClr val="262626"/>
                </a:solidFill>
                <a:latin typeface="Arial"/>
                <a:ea typeface="Arial"/>
                <a:cs typeface="Arial"/>
              </a:rPr>
              <a:t>Keep each report actionable</a:t>
            </a:r>
          </a:p>
        </p:txBody>
      </p:sp>
      <p:sp>
        <p:nvSpPr>
          <p:cNvPr id="14" name="Solution detail 1">
            <a:extLst xmlns:a="http://schemas.openxmlformats.org/drawingml/2006/main">
              <a:ext uri="{FF2B5EF4-FFF2-40B4-BE49-F238E27FC236}">
                <a16:creationId xmlns:a16="http://schemas.microsoft.com/office/drawing/2014/main" id="{C5FF91FD-3AD6-45BB-967C-60DD42400D94}"/>
              </a:ext>
            </a:extLst>
          </p:cNvPr>
          <p:cNvSpPr>
            <a:spLocks xmlns:a="http://schemas.openxmlformats.org/drawingml/2006/main" noGrp="1"/>
          </p:cNvSpPr>
          <p:nvPr/>
        </p:nvSpPr>
        <p:spPr>
          <a:xfrm xmlns:a="http://schemas.openxmlformats.org/drawingml/2006/main">
            <a:off x="685800" y="482917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Add a zone and photo, confirm an owner, then track replies and resolution.</a:t>
            </a:r>
          </a:p>
        </p:txBody>
      </p:sp>
      <p:sp>
        <p:nvSpPr>
          <p:cNvPr id="15" name="Solution label 2">
            <a:extLst xmlns:a="http://schemas.openxmlformats.org/drawingml/2006/main">
              <a:ext uri="{FF2B5EF4-FFF2-40B4-BE49-F238E27FC236}">
                <a16:creationId xmlns:a16="http://schemas.microsoft.com/office/drawing/2014/main" id="{13538E33-0BA2-4D1D-9F3C-B568D2A61433}"/>
              </a:ext>
            </a:extLst>
          </p:cNvPr>
          <p:cNvSpPr>
            <a:spLocks xmlns:a="http://schemas.openxmlformats.org/drawingml/2006/main" noGrp="1"/>
          </p:cNvSpPr>
          <p:nvPr/>
        </p:nvSpPr>
        <p:spPr>
          <a:xfrm xmlns:a="http://schemas.openxmlformats.org/drawingml/2006/main">
            <a:off x="685800" y="55245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defRPr sz="1950" b="1">
                <a:solidFill>
                  <a:srgbClr val="262626"/>
                </a:solidFill>
                <a:latin typeface="Arial"/>
                <a:ea typeface="Arial"/>
                <a:cs typeface="Arial"/>
              </a:defRPr>
            </a:pPr>
            <a:r>
              <a:rPr sz="1950" b="1">
                <a:solidFill>
                  <a:srgbClr val="262626"/>
                </a:solidFill>
                <a:latin typeface="Arial"/>
                <a:ea typeface="Arial"/>
                <a:cs typeface="Arial"/>
              </a:rPr>
              <a:t>Retain the communication record</a:t>
            </a:r>
          </a:p>
        </p:txBody>
      </p:sp>
      <p:sp>
        <p:nvSpPr>
          <p:cNvPr id="16" name="Solution detail 2">
            <a:extLst xmlns:a="http://schemas.openxmlformats.org/drawingml/2006/main">
              <a:ext uri="{FF2B5EF4-FFF2-40B4-BE49-F238E27FC236}">
                <a16:creationId xmlns:a16="http://schemas.microsoft.com/office/drawing/2014/main" id="{34137708-122A-433B-948A-3E8FEE84683D}"/>
              </a:ext>
            </a:extLst>
          </p:cNvPr>
          <p:cNvSpPr>
            <a:spLocks xmlns:a="http://schemas.openxmlformats.org/drawingml/2006/main" noGrp="1"/>
          </p:cNvSpPr>
          <p:nvPr/>
        </p:nvSpPr>
        <p:spPr>
          <a:xfrm xmlns:a="http://schemas.openxmlformats.org/drawingml/2006/main">
            <a:off x="685800" y="587692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Replay saved voice, read local English transcripts and acknowledge your own copy.</a:t>
            </a:r>
          </a:p>
        </p:txBody>
      </p:sp>
      <p:pic>
        <p:nvPicPr>
          <p:cNvPr id="17" name="">
            <a:extLst xmlns:a="http://schemas.openxmlformats.org/drawingml/2006/main">
              <a:ext uri="{FF2B5EF4-FFF2-40B4-BE49-F238E27FC236}">
                <a16:creationId xmlns:a16="http://schemas.microsoft.com/office/drawing/2014/main" id="{FDF8776E-59AD-402C-96C5-09D6B61E260A}"/>
              </a:ext>
            </a:extLst>
          </p:cNvPr>
          <p:cNvPicPr>
            <a:picLocks xmlns:a="http://schemas.openxmlformats.org/drawingml/2006/main" noChangeAspect="1"/>
          </p:cNvPicPr>
          <p:nvPr/>
        </p:nvPicPr>
        <p:blipFill>
          <a:blip xmlns:r="http://schemas.openxmlformats.org/officeDocument/2006/relationships" xmlns:a="http://schemas.openxmlformats.org/drawingml/2006/main" r:embed="Racee0830b0c744c6"/>
          <a:stretch xmlns:a="http://schemas.openxmlformats.org/drawingml/2006/main"/>
        </p:blipFill>
        <p:spPr>
          <a:xfrm xmlns:a="http://schemas.openxmlformats.org/drawingml/2006/main">
            <a:off x="8972834" y="1219200"/>
            <a:ext cx="2209231" cy="4933950"/>
          </a:xfrm>
          <a:prstGeom xmlns:a="http://schemas.openxmlformats.org/drawingml/2006/main" prst="rect">
            <a:avLst/>
          </a:prstGeom>
        </p:spPr>
      </p:pic>
      <p:sp>
        <p:nvSpPr>
          <p:cNvPr id="18" name="Solution screenshot caption">
            <a:extLst xmlns:a="http://schemas.openxmlformats.org/drawingml/2006/main">
              <a:ext uri="{FF2B5EF4-FFF2-40B4-BE49-F238E27FC236}">
                <a16:creationId xmlns:a16="http://schemas.microsoft.com/office/drawing/2014/main" id="{4202003C-DB0B-4922-833C-A36F8FFF5313}"/>
              </a:ext>
            </a:extLst>
          </p:cNvPr>
          <p:cNvSpPr>
            <a:spLocks xmlns:a="http://schemas.openxmlformats.org/drawingml/2006/main" noGrp="1"/>
          </p:cNvSpPr>
          <p:nvPr/>
        </p:nvSpPr>
        <p:spPr>
          <a:xfrm xmlns:a="http://schemas.openxmlformats.org/drawingml/2006/main">
            <a:off x="8972550" y="6267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defRPr sz="1500" b="0">
                <a:solidFill>
                  <a:srgbClr val="666666"/>
                </a:solidFill>
                <a:latin typeface="Arial"/>
                <a:ea typeface="Arial"/>
                <a:cs typeface="Arial"/>
              </a:defRPr>
            </a:pPr>
            <a:r>
              <a:rPr sz="1500" b="0">
                <a:solidFill>
                  <a:srgbClr val="666666"/>
                </a:solidFill>
                <a:latin typeface="Arial"/>
                <a:ea typeface="Arial"/>
                <a:cs typeface="Arial"/>
              </a:rPr>
              <a:t>Android Message Log</a:t>
            </a:r>
          </a:p>
        </p:txBody>
      </p:sp>
    </p:spTree>
    <p:extLst>
      <p:ext uri="{BB962C8B-B14F-4D97-AF65-F5344CB8AC3E}">
        <p14:creationId xmlns:p14="http://schemas.microsoft.com/office/powerpoint/2010/main" val="28292640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2EF9D7-A296-B367-641D-5ED71C52CC5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6CDAC5D-34C0-0403-A7BC-21BF267ECE4A}"/>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60353D8E-52B5-4115-B827-675E6C08A75C}"/>
              </a:ext>
            </a:extLst>
          </p:cNvPr>
          <p:cNvPicPr>
            <a:picLocks xmlns:a="http://schemas.openxmlformats.org/drawingml/2006/main" noChangeAspect="1"/>
          </p:cNvPicPr>
          <p:nvPr/>
        </p:nvPicPr>
        <p:blipFill>
          <a:blip xmlns:r="http://schemas.openxmlformats.org/officeDocument/2006/relationships" xmlns:a="http://schemas.openxmlformats.org/drawingml/2006/main" r:embed="R4cfd9243c558416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0672AAC1-E88D-4EC8-ACCE-6D0AF40B859F}"/>
              </a:ext>
            </a:extLst>
          </p:cNvPr>
          <p:cNvPicPr>
            <a:picLocks xmlns:a="http://schemas.openxmlformats.org/drawingml/2006/main" noChangeAspect="1"/>
          </p:cNvPicPr>
          <p:nvPr/>
        </p:nvPicPr>
        <p:blipFill>
          <a:blip xmlns:r="http://schemas.openxmlformats.org/officeDocument/2006/relationships" xmlns:a="http://schemas.openxmlformats.org/drawingml/2006/main" r:embed="Ra015d4976241496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9269F55-A8D0-AF52-4D37-C44FD377510C}"/>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Technical Architecture and Tech Stack</a:t>
            </a:r>
          </a:p>
        </p:txBody>
      </p:sp>
      <p:sp>
        <p:nvSpPr>
          <p:cNvPr id="9" name="Content headline">
            <a:extLst xmlns:a="http://schemas.openxmlformats.org/drawingml/2006/main">
              <a:ext uri="{FF2B5EF4-FFF2-40B4-BE49-F238E27FC236}">
                <a16:creationId xmlns:a16="http://schemas.microsoft.com/office/drawing/2014/main" id="{D22D5667-C487-4E40-B921-900AE7BF0475}"/>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Organisation-hosted services</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with local recovery on each client</a:t>
            </a:r>
          </a:p>
        </p:txBody>
      </p:sp>
      <p:graphicFrame>
        <p:nvGraphicFramePr>
          <p:cNvPr id="10" name="">
            <a:extLst xmlns:a="http://schemas.openxmlformats.org/drawingml/2006/main">
              <a:ext uri="{FF2B5EF4-FFF2-40B4-BE49-F238E27FC236}">
                <a16:creationId xmlns:a16="http://schemas.microsoft.com/office/drawing/2014/main" id="{6A550962-9580-45CC-9972-E9F7906091FB}"/>
              </a:ext>
            </a:extLst>
          </p:cNvPr>
          <p:cNvGraphicFramePr/>
          <p:nvPr/>
        </p:nvGraphicFramePr>
        <p:xfrm>
          <a:off xmlns:a="http://schemas.openxmlformats.org/drawingml/2006/main" x="685800" y="2466975"/>
          <a:ext xmlns:a="http://schemas.openxmlformats.org/drawingml/2006/main" cx="10801350" cy="3333750"/>
        </p:xfrm>
        <a:graphic xmlns:a="http://schemas.openxmlformats.org/drawingml/2006/main">
          <a:graphicData uri="http://schemas.openxmlformats.org/drawingml/2006/table">
            <a:tbl>
              <a:tblPr/>
              <a:tblGrid>
                <a:gridCol w="2190750"/>
                <a:gridCol w="3286125"/>
                <a:gridCol w="5324475"/>
              </a:tblGrid>
              <a:tr h="555625">
                <a:tc>
                  <a:txBody>
                    <a:bodyPr/>
                    <a:lstStyle/>
                    <a:p>
                      <a:r>
                        <a:rPr sz="1725" b="1">
                          <a:solidFill>
                            <a:srgbClr val="FFFFFF"/>
                          </a:solidFill>
                          <a:latin typeface="Arial"/>
                          <a:ea typeface="Arial"/>
                          <a:cs typeface="Arial"/>
                        </a:rPr>
                        <a:t>Layer</a:t>
                      </a:r>
                    </a:p>
                  </a:txBody>
                  <a:tcPr marL="91440" marR="91440" marT="45720" marB="45720">
                    <a:solidFill>
                      <a:srgbClr val="A80000"/>
                    </a:solidFill>
                  </a:tcPr>
                </a:tc>
                <a:tc>
                  <a:txBody>
                    <a:bodyPr/>
                    <a:lstStyle/>
                    <a:p>
                      <a:r>
                        <a:rPr sz="1725" b="1">
                          <a:solidFill>
                            <a:srgbClr val="FFFFFF"/>
                          </a:solidFill>
                          <a:latin typeface="Arial"/>
                          <a:ea typeface="Arial"/>
                          <a:cs typeface="Arial"/>
                        </a:rPr>
                        <a:t>Technology</a:t>
                      </a:r>
                    </a:p>
                  </a:txBody>
                  <a:tcPr marL="91440" marR="91440" marT="45720" marB="45720">
                    <a:solidFill>
                      <a:srgbClr val="A80000"/>
                    </a:solidFill>
                  </a:tcPr>
                </a:tc>
                <a:tc>
                  <a:txBody>
                    <a:bodyPr/>
                    <a:lstStyle/>
                    <a:p>
                      <a:r>
                        <a:rPr sz="1725" b="1">
                          <a:solidFill>
                            <a:srgbClr val="FFFFFF"/>
                          </a:solidFill>
                          <a:latin typeface="Arial"/>
                          <a:ea typeface="Arial"/>
                          <a:cs typeface="Arial"/>
                        </a:rPr>
                        <a:t>Responsibility</a:t>
                      </a:r>
                    </a:p>
                  </a:txBody>
                  <a:tcPr marL="91440" marR="91440" marT="45720" marB="45720">
                    <a:solidFill>
                      <a:srgbClr val="A80000"/>
                    </a:solidFill>
                  </a:tcPr>
                </a:tc>
              </a:tr>
              <a:tr h="555625">
                <a:tc>
                  <a:txBody>
                    <a:bodyPr/>
                    <a:lstStyle/>
                    <a:p>
                      <a:r>
                        <a:rPr sz="1725" b="0">
                          <a:solidFill>
                            <a:srgbClr val="262626"/>
                          </a:solidFill>
                          <a:latin typeface="Arial"/>
                          <a:ea typeface="Arial"/>
                          <a:cs typeface="Arial"/>
                        </a:rPr>
                        <a:t>Android app</a:t>
                      </a:r>
                    </a:p>
                  </a:txBody>
                  <a:tcPr marL="91440" marR="91440" marT="45720" marB="45720">
                    <a:solidFill>
                      <a:srgbClr val="FFFFFF"/>
                    </a:solidFill>
                  </a:tcPr>
                </a:tc>
                <a:tc>
                  <a:txBody>
                    <a:bodyPr/>
                    <a:lstStyle/>
                    <a:p>
                      <a:r>
                        <a:rPr sz="1725" b="0">
                          <a:solidFill>
                            <a:srgbClr val="262626"/>
                          </a:solidFill>
                          <a:latin typeface="Arial"/>
                          <a:ea typeface="Arial"/>
                          <a:cs typeface="Arial"/>
                        </a:rPr>
                        <a:t>Kotlin, Compose, Room</a:t>
                      </a:r>
                    </a:p>
                  </a:txBody>
                  <a:tcPr marL="91440" marR="91440" marT="45720" marB="45720">
                    <a:solidFill>
                      <a:srgbClr val="FFFFFF"/>
                    </a:solidFill>
                  </a:tcPr>
                </a:tc>
                <a:tc>
                  <a:txBody>
                    <a:bodyPr/>
                    <a:lstStyle/>
                    <a:p>
                      <a:r>
                        <a:rPr sz="1725" b="0">
                          <a:solidFill>
                            <a:srgbClr val="262626"/>
                          </a:solidFill>
                          <a:latin typeface="Arial"/>
                          <a:ea typeface="Arial"/>
                          <a:cs typeface="Arial"/>
                        </a:rPr>
                        <a:t>Field controls, local cache and queued work</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Browser console</a:t>
                      </a:r>
                    </a:p>
                  </a:txBody>
                  <a:tcPr marL="91440" marR="91440" marT="45720" marB="45720">
                    <a:solidFill>
                      <a:srgbClr val="FFFFFF"/>
                    </a:solidFill>
                  </a:tcPr>
                </a:tc>
                <a:tc>
                  <a:txBody>
                    <a:bodyPr/>
                    <a:lstStyle/>
                    <a:p>
                      <a:r>
                        <a:rPr sz="1725" b="0">
                          <a:solidFill>
                            <a:srgbClr val="262626"/>
                          </a:solidFill>
                          <a:latin typeface="Arial"/>
                          <a:ea typeface="Arial"/>
                          <a:cs typeface="Arial"/>
                        </a:rPr>
                        <a:t>React, TypeScript, IndexedDB</a:t>
                      </a:r>
                    </a:p>
                  </a:txBody>
                  <a:tcPr marL="91440" marR="91440" marT="45720" marB="45720">
                    <a:solidFill>
                      <a:srgbClr val="FFFFFF"/>
                    </a:solidFill>
                  </a:tcPr>
                </a:tc>
                <a:tc>
                  <a:txBody>
                    <a:bodyPr/>
                    <a:lstStyle/>
                    <a:p>
                      <a:r>
                        <a:rPr sz="1725" b="0">
                          <a:solidFill>
                            <a:srgbClr val="262626"/>
                          </a:solidFill>
                          <a:latin typeface="Arial"/>
                          <a:ea typeface="Arial"/>
                          <a:cs typeface="Arial"/>
                        </a:rPr>
                        <a:t>Communication, operations and administration</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API and storage</a:t>
                      </a:r>
                    </a:p>
                  </a:txBody>
                  <a:tcPr marL="91440" marR="91440" marT="45720" marB="45720">
                    <a:solidFill>
                      <a:srgbClr val="FFFFFF"/>
                    </a:solidFill>
                  </a:tcPr>
                </a:tc>
                <a:tc>
                  <a:txBody>
                    <a:bodyPr/>
                    <a:lstStyle/>
                    <a:p>
                      <a:r>
                        <a:rPr sz="1725" b="0">
                          <a:solidFill>
                            <a:srgbClr val="262626"/>
                          </a:solidFill>
                          <a:latin typeface="Arial"/>
                          <a:ea typeface="Arial"/>
                          <a:cs typeface="Arial"/>
                        </a:rPr>
                        <a:t>Fastify, WebSocket, SQLite</a:t>
                      </a:r>
                    </a:p>
                  </a:txBody>
                  <a:tcPr marL="91440" marR="91440" marT="45720" marB="45720">
                    <a:solidFill>
                      <a:srgbClr val="FFFFFF"/>
                    </a:solidFill>
                  </a:tcPr>
                </a:tc>
                <a:tc>
                  <a:txBody>
                    <a:bodyPr/>
                    <a:lstStyle/>
                    <a:p>
                      <a:r>
                        <a:rPr sz="1725" b="0">
                          <a:solidFill>
                            <a:srgbClr val="262626"/>
                          </a:solidFill>
                          <a:latin typeface="Arial"/>
                          <a:ea typeface="Arial"/>
                          <a:cs typeface="Arial"/>
                        </a:rPr>
                        <a:t>Approval, permissions, issue state and history</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Live audio / video</a:t>
                      </a:r>
                    </a:p>
                  </a:txBody>
                  <a:tcPr marL="91440" marR="91440" marT="45720" marB="45720">
                    <a:solidFill>
                      <a:srgbClr val="FFFFFF"/>
                    </a:solidFill>
                  </a:tcPr>
                </a:tc>
                <a:tc>
                  <a:txBody>
                    <a:bodyPr/>
                    <a:lstStyle/>
                    <a:p>
                      <a:r>
                        <a:rPr sz="1725" b="0">
                          <a:solidFill>
                            <a:srgbClr val="262626"/>
                          </a:solidFill>
                          <a:latin typeface="Arial"/>
                          <a:ea typeface="Arial"/>
                          <a:cs typeface="Arial"/>
                        </a:rPr>
                        <a:t>Self-hosted LiveKit</a:t>
                      </a:r>
                    </a:p>
                  </a:txBody>
                  <a:tcPr marL="91440" marR="91440" marT="45720" marB="45720">
                    <a:solidFill>
                      <a:srgbClr val="FFFFFF"/>
                    </a:solidFill>
                  </a:tcPr>
                </a:tc>
                <a:tc>
                  <a:txBody>
                    <a:bodyPr/>
                    <a:lstStyle/>
                    <a:p>
                      <a:r>
                        <a:rPr sz="1725" b="0">
                          <a:solidFill>
                            <a:srgbClr val="262626"/>
                          </a:solidFill>
                          <a:latin typeface="Arial"/>
                          <a:ea typeface="Arial"/>
                          <a:cs typeface="Arial"/>
                        </a:rPr>
                        <a:t>PTT, broadcasts and private calls</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Speech and failover</a:t>
                      </a:r>
                    </a:p>
                  </a:txBody>
                  <a:tcPr marL="91440" marR="91440" marT="45720" marB="45720">
                    <a:solidFill>
                      <a:srgbClr val="FFFFFF"/>
                    </a:solidFill>
                  </a:tcPr>
                </a:tc>
                <a:tc>
                  <a:txBody>
                    <a:bodyPr/>
                    <a:lstStyle/>
                    <a:p>
                      <a:r>
                        <a:rPr sz="1725" b="0">
                          <a:solidFill>
                            <a:srgbClr val="262626"/>
                          </a:solidFill>
                          <a:latin typeface="Arial"/>
                          <a:ea typeface="Arial"/>
                          <a:cs typeface="Arial"/>
                        </a:rPr>
                        <a:t>Vosk, FFmpeg, Nearby Connections</a:t>
                      </a:r>
                    </a:p>
                  </a:txBody>
                  <a:tcPr marL="91440" marR="91440" marT="45720" marB="45720">
                    <a:solidFill>
                      <a:srgbClr val="FFFFFF"/>
                    </a:solidFill>
                  </a:tcPr>
                </a:tc>
                <a:tc>
                  <a:txBody>
                    <a:bodyPr/>
                    <a:lstStyle/>
                    <a:p>
                      <a:r>
                        <a:rPr sz="1725" b="0">
                          <a:solidFill>
                            <a:srgbClr val="262626"/>
                          </a:solidFill>
                          <a:latin typeface="Arial"/>
                          <a:ea typeface="Arial"/>
                          <a:cs typeface="Arial"/>
                        </a:rPr>
                        <a:t>Local English recognition and direct Android links</a:t>
                      </a:r>
                    </a:p>
                  </a:txBody>
                  <a:tcPr marL="91440" marR="91440" marT="45720" marB="45720">
                    <a:solidFill>
                      <a:srgbClr val="FFFFFF"/>
                    </a:solidFill>
                  </a:tcPr>
                </a:tc>
              </a:tr>
            </a:tbl>
          </a:graphicData>
        </a:graphic>
      </p:graphicFrame>
      <p:sp>
        <p:nvSpPr>
          <p:cNvPr id="11" name="Architecture transport detail">
            <a:extLst xmlns:a="http://schemas.openxmlformats.org/drawingml/2006/main">
              <a:ext uri="{FF2B5EF4-FFF2-40B4-BE49-F238E27FC236}">
                <a16:creationId xmlns:a16="http://schemas.microsoft.com/office/drawing/2014/main" id="{417445AF-1949-4ADE-84E3-CBE7D266EB02}"/>
              </a:ext>
            </a:extLst>
          </p:cNvPr>
          <p:cNvSpPr>
            <a:spLocks xmlns:a="http://schemas.openxmlformats.org/drawingml/2006/main" noGrp="1"/>
          </p:cNvSpPr>
          <p:nvPr/>
        </p:nvSpPr>
        <p:spPr>
          <a:xfrm xmlns:a="http://schemas.openxmlformats.org/drawingml/2006/main">
            <a:off x="685800" y="6057900"/>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55555"/>
                </a:solidFill>
                <a:latin typeface="Arial"/>
                <a:ea typeface="Arial"/>
                <a:cs typeface="Arial"/>
              </a:defRPr>
            </a:defPPr>
          </a:lstStyle>
          <a:p xmlns:a="http://schemas.openxmlformats.org/drawingml/2006/main">
            <a:pPr algn="l">
              <a:defRPr sz="1725" b="0">
                <a:solidFill>
                  <a:srgbClr val="555555"/>
                </a:solidFill>
                <a:latin typeface="Arial"/>
                <a:ea typeface="Arial"/>
                <a:cs typeface="Arial"/>
              </a:defRPr>
            </a:pPr>
            <a:r>
              <a:rPr sz="1725" b="0">
                <a:solidFill>
                  <a:srgbClr val="555555"/>
                </a:solidFill>
                <a:latin typeface="Arial"/>
                <a:ea typeface="Arial"/>
                <a:cs typeface="Arial"/>
              </a:rPr>
              <a:t>HTTP and WebSocket carry application state. LiveKit carries online media.</a:t>
            </a:r>
          </a:p>
          <a:p xmlns:a="http://schemas.openxmlformats.org/drawingml/2006/main">
            <a:pPr algn="l">
              <a:defRPr sz="1725" b="0">
                <a:solidFill>
                  <a:srgbClr val="555555"/>
                </a:solidFill>
                <a:latin typeface="Arial"/>
                <a:ea typeface="Arial"/>
                <a:cs typeface="Arial"/>
              </a:defRPr>
            </a:pPr>
            <a:r>
              <a:rPr sz="1725" b="0">
                <a:solidFill>
                  <a:srgbClr val="555555"/>
                </a:solidFill>
                <a:latin typeface="Arial"/>
                <a:ea typeface="Arial"/>
                <a:cs typeface="Arial"/>
              </a:rPr>
              <a:t>Nearby connects permitted Android peers directly during outages.</a:t>
            </a:r>
          </a:p>
        </p:txBody>
      </p:sp>
    </p:spTree>
    <p:extLst>
      <p:ext uri="{BB962C8B-B14F-4D97-AF65-F5344CB8AC3E}">
        <p14:creationId xmlns:p14="http://schemas.microsoft.com/office/powerpoint/2010/main" val="17472580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F2DF2F-EDDE-4D7B-A639-0DC74E392EC5}"/>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EF85BF1-3784-3E72-39B3-B468FB556DF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E83CD421-CC30-48BF-A2BC-2495846A5020}"/>
              </a:ext>
            </a:extLst>
          </p:cNvPr>
          <p:cNvPicPr>
            <a:picLocks xmlns:a="http://schemas.openxmlformats.org/drawingml/2006/main" noChangeAspect="1"/>
          </p:cNvPicPr>
          <p:nvPr/>
        </p:nvPicPr>
        <p:blipFill>
          <a:blip xmlns:r="http://schemas.openxmlformats.org/officeDocument/2006/relationships" xmlns:a="http://schemas.openxmlformats.org/drawingml/2006/main" r:embed="R6aee5572cdab401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A3EA765B-F9EA-4456-82E5-898852AB9C12}"/>
              </a:ext>
            </a:extLst>
          </p:cNvPr>
          <p:cNvPicPr>
            <a:picLocks xmlns:a="http://schemas.openxmlformats.org/drawingml/2006/main" noChangeAspect="1"/>
          </p:cNvPicPr>
          <p:nvPr/>
        </p:nvPicPr>
        <p:blipFill>
          <a:blip xmlns:r="http://schemas.openxmlformats.org/officeDocument/2006/relationships" xmlns:a="http://schemas.openxmlformats.org/drawingml/2006/main" r:embed="R69d7b101016e464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F951BB3C-E90B-A26C-3140-E8CE949EE2D5}"/>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Key Features and Implementation</a:t>
            </a:r>
          </a:p>
        </p:txBody>
      </p:sp>
      <p:sp>
        <p:nvSpPr>
          <p:cNvPr id="9" name="Feature headline">
            <a:extLst xmlns:a="http://schemas.openxmlformats.org/drawingml/2006/main">
              <a:ext uri="{FF2B5EF4-FFF2-40B4-BE49-F238E27FC236}">
                <a16:creationId xmlns:a16="http://schemas.microsoft.com/office/drawing/2014/main" id="{F109BCBE-D66E-444C-AFFE-D100566532EE}"/>
              </a:ext>
            </a:extLst>
          </p:cNvPr>
          <p:cNvSpPr>
            <a:spLocks xmlns:a="http://schemas.openxmlformats.org/drawingml/2006/main" noGrp="1"/>
          </p:cNvSpPr>
          <p:nvPr/>
        </p:nvSpPr>
        <p:spPr>
          <a:xfrm xmlns:a="http://schemas.openxmlformats.org/drawingml/2006/main">
            <a:off x="685800" y="12287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Implemented features through version 0.3.0</a:t>
            </a:r>
          </a:p>
        </p:txBody>
      </p:sp>
      <p:sp>
        <p:nvSpPr>
          <p:cNvPr id="10" name="Feature heading 0">
            <a:extLst xmlns:a="http://schemas.openxmlformats.org/drawingml/2006/main">
              <a:ext uri="{FF2B5EF4-FFF2-40B4-BE49-F238E27FC236}">
                <a16:creationId xmlns:a16="http://schemas.microsoft.com/office/drawing/2014/main" id="{C494401E-5F46-4699-8E58-67DEDEBB90C0}"/>
              </a:ext>
            </a:extLst>
          </p:cNvPr>
          <p:cNvSpPr>
            <a:spLocks xmlns:a="http://schemas.openxmlformats.org/drawingml/2006/main" noGrp="1"/>
          </p:cNvSpPr>
          <p:nvPr/>
        </p:nvSpPr>
        <p:spPr>
          <a:xfrm xmlns:a="http://schemas.openxmlformats.org/drawingml/2006/main">
            <a:off x="685800" y="23336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Live communication</a:t>
            </a:r>
          </a:p>
        </p:txBody>
      </p:sp>
      <p:sp>
        <p:nvSpPr>
          <p:cNvPr id="11" name="Feature description 0">
            <a:extLst xmlns:a="http://schemas.openxmlformats.org/drawingml/2006/main">
              <a:ext uri="{FF2B5EF4-FFF2-40B4-BE49-F238E27FC236}">
                <a16:creationId xmlns:a16="http://schemas.microsoft.com/office/drawing/2014/main" id="{ECA8C024-3E0F-4BCE-BCBC-588BC703942A}"/>
              </a:ext>
            </a:extLst>
          </p:cNvPr>
          <p:cNvSpPr>
            <a:spLocks xmlns:a="http://schemas.openxmlformats.org/drawingml/2006/main" noGrp="1"/>
          </p:cNvSpPr>
          <p:nvPr/>
        </p:nvSpPr>
        <p:spPr>
          <a:xfrm xmlns:a="http://schemas.openxmlformats.org/drawingml/2006/main">
            <a:off x="685800" y="27527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Hold-to-talk with a 30-second limit, duty-admin exchanges, targeted broadcasts and private voice/video calls.</a:t>
            </a:r>
          </a:p>
        </p:txBody>
      </p:sp>
      <p:sp>
        <p:nvSpPr>
          <p:cNvPr id="12" name="Feature heading 1">
            <a:extLst xmlns:a="http://schemas.openxmlformats.org/drawingml/2006/main">
              <a:ext uri="{FF2B5EF4-FFF2-40B4-BE49-F238E27FC236}">
                <a16:creationId xmlns:a16="http://schemas.microsoft.com/office/drawing/2014/main" id="{924F21CC-829D-49BE-B742-B6D67A16F544}"/>
              </a:ext>
            </a:extLst>
          </p:cNvPr>
          <p:cNvSpPr>
            <a:spLocks xmlns:a="http://schemas.openxmlformats.org/drawingml/2006/main" noGrp="1"/>
          </p:cNvSpPr>
          <p:nvPr/>
        </p:nvSpPr>
        <p:spPr>
          <a:xfrm xmlns:a="http://schemas.openxmlformats.org/drawingml/2006/main">
            <a:off x="685800" y="368617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Durable message history</a:t>
            </a:r>
          </a:p>
        </p:txBody>
      </p:sp>
      <p:sp>
        <p:nvSpPr>
          <p:cNvPr id="13" name="Feature description 1">
            <a:extLst xmlns:a="http://schemas.openxmlformats.org/drawingml/2006/main">
              <a:ext uri="{FF2B5EF4-FFF2-40B4-BE49-F238E27FC236}">
                <a16:creationId xmlns:a16="http://schemas.microsoft.com/office/drawing/2014/main" id="{3B08776D-CE20-4DFC-AD90-6A43D64FCE9E}"/>
              </a:ext>
            </a:extLst>
          </p:cNvPr>
          <p:cNvSpPr>
            <a:spLocks xmlns:a="http://schemas.openxmlformats.org/drawingml/2006/main" noGrp="1"/>
          </p:cNvSpPr>
          <p:nvPr/>
        </p:nvSpPr>
        <p:spPr>
          <a:xfrm xmlns:a="http://schemas.openxmlformats.org/drawingml/2006/main">
            <a:off x="685800" y="410527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Text and attachments, saved PTT replay, delivery states and personal acknowledgement/archive.</a:t>
            </a:r>
          </a:p>
        </p:txBody>
      </p:sp>
      <p:sp>
        <p:nvSpPr>
          <p:cNvPr id="14" name="Feature heading 2">
            <a:extLst xmlns:a="http://schemas.openxmlformats.org/drawingml/2006/main">
              <a:ext uri="{FF2B5EF4-FFF2-40B4-BE49-F238E27FC236}">
                <a16:creationId xmlns:a16="http://schemas.microsoft.com/office/drawing/2014/main" id="{B2199187-ADB6-4970-9D73-4C1E185854A3}"/>
              </a:ext>
            </a:extLst>
          </p:cNvPr>
          <p:cNvSpPr>
            <a:spLocks xmlns:a="http://schemas.openxmlformats.org/drawingml/2006/main" noGrp="1"/>
          </p:cNvSpPr>
          <p:nvPr/>
        </p:nvSpPr>
        <p:spPr>
          <a:xfrm xmlns:a="http://schemas.openxmlformats.org/drawingml/2006/main">
            <a:off x="685800" y="50387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Venue operations</a:t>
            </a:r>
          </a:p>
        </p:txBody>
      </p:sp>
      <p:sp>
        <p:nvSpPr>
          <p:cNvPr id="15" name="Feature description 2">
            <a:extLst xmlns:a="http://schemas.openxmlformats.org/drawingml/2006/main">
              <a:ext uri="{FF2B5EF4-FFF2-40B4-BE49-F238E27FC236}">
                <a16:creationId xmlns:a16="http://schemas.microsoft.com/office/drawing/2014/main" id="{CF6D5CC9-113F-4958-B251-80A1894A9832}"/>
              </a:ext>
            </a:extLst>
          </p:cNvPr>
          <p:cNvSpPr>
            <a:spLocks xmlns:a="http://schemas.openxmlformats.org/drawingml/2006/main" noGrp="1"/>
          </p:cNvSpPr>
          <p:nvPr/>
        </p:nvSpPr>
        <p:spPr>
          <a:xfrm xmlns:a="http://schemas.openxmlformats.org/drawingml/2006/main">
            <a:off x="685800" y="54578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Floor plans, named zones, staff check-ins and issue claims, replies, reassignment and resolution.</a:t>
            </a:r>
          </a:p>
        </p:txBody>
      </p:sp>
      <p:sp>
        <p:nvSpPr>
          <p:cNvPr id="16" name="Feature heading 3">
            <a:extLst xmlns:a="http://schemas.openxmlformats.org/drawingml/2006/main">
              <a:ext uri="{FF2B5EF4-FFF2-40B4-BE49-F238E27FC236}">
                <a16:creationId xmlns:a16="http://schemas.microsoft.com/office/drawing/2014/main" id="{D38E5C70-5E34-46B3-9A88-42B2C1B35E7B}"/>
              </a:ext>
            </a:extLst>
          </p:cNvPr>
          <p:cNvSpPr>
            <a:spLocks xmlns:a="http://schemas.openxmlformats.org/drawingml/2006/main" noGrp="1"/>
          </p:cNvSpPr>
          <p:nvPr/>
        </p:nvSpPr>
        <p:spPr>
          <a:xfrm xmlns:a="http://schemas.openxmlformats.org/drawingml/2006/main">
            <a:off x="6372225" y="23336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Offline continuity</a:t>
            </a:r>
          </a:p>
        </p:txBody>
      </p:sp>
      <p:sp>
        <p:nvSpPr>
          <p:cNvPr id="17" name="Feature description 3">
            <a:extLst xmlns:a="http://schemas.openxmlformats.org/drawingml/2006/main">
              <a:ext uri="{FF2B5EF4-FFF2-40B4-BE49-F238E27FC236}">
                <a16:creationId xmlns:a16="http://schemas.microsoft.com/office/drawing/2014/main" id="{564F1F17-AA55-4264-AAAD-3AFCC262995E}"/>
              </a:ext>
            </a:extLst>
          </p:cNvPr>
          <p:cNvSpPr>
            <a:spLocks xmlns:a="http://schemas.openxmlformats.org/drawingml/2006/main" noGrp="1"/>
          </p:cNvSpPr>
          <p:nvPr/>
        </p:nvSpPr>
        <p:spPr>
          <a:xfrm xmlns:a="http://schemas.openxmlformats.org/drawingml/2006/main">
            <a:off x="6372225" y="27527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Local queues and direct Nearby TALK/media on approved Android phones, with later server sync.</a:t>
            </a:r>
          </a:p>
        </p:txBody>
      </p:sp>
      <p:sp>
        <p:nvSpPr>
          <p:cNvPr id="18" name="Feature heading 4">
            <a:extLst xmlns:a="http://schemas.openxmlformats.org/drawingml/2006/main">
              <a:ext uri="{FF2B5EF4-FFF2-40B4-BE49-F238E27FC236}">
                <a16:creationId xmlns:a16="http://schemas.microsoft.com/office/drawing/2014/main" id="{E8580396-55F4-4E9B-BEBC-87B3C18DD17C}"/>
              </a:ext>
            </a:extLst>
          </p:cNvPr>
          <p:cNvSpPr>
            <a:spLocks xmlns:a="http://schemas.openxmlformats.org/drawingml/2006/main" noGrp="1"/>
          </p:cNvSpPr>
          <p:nvPr/>
        </p:nvSpPr>
        <p:spPr>
          <a:xfrm xmlns:a="http://schemas.openxmlformats.org/drawingml/2006/main">
            <a:off x="6372225" y="368617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Local speech tools</a:t>
            </a:r>
          </a:p>
        </p:txBody>
      </p:sp>
      <p:sp>
        <p:nvSpPr>
          <p:cNvPr id="19" name="Feature description 4">
            <a:extLst xmlns:a="http://schemas.openxmlformats.org/drawingml/2006/main">
              <a:ext uri="{FF2B5EF4-FFF2-40B4-BE49-F238E27FC236}">
                <a16:creationId xmlns:a16="http://schemas.microsoft.com/office/drawing/2014/main" id="{59EF45AC-A28A-4FA5-AA50-199B72CD8636}"/>
              </a:ext>
            </a:extLst>
          </p:cNvPr>
          <p:cNvSpPr>
            <a:spLocks xmlns:a="http://schemas.openxmlformats.org/drawingml/2006/main" noGrp="1"/>
          </p:cNvSpPr>
          <p:nvPr/>
        </p:nvSpPr>
        <p:spPr>
          <a:xfrm xmlns:a="http://schemas.openxmlformats.org/drawingml/2006/main">
            <a:off x="6372225" y="410527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English transcripts of saved audio and editable offline dictation, without a cloud speech API.</a:t>
            </a:r>
          </a:p>
        </p:txBody>
      </p:sp>
      <p:sp>
        <p:nvSpPr>
          <p:cNvPr id="20" name="Feature heading 5">
            <a:extLst xmlns:a="http://schemas.openxmlformats.org/drawingml/2006/main">
              <a:ext uri="{FF2B5EF4-FFF2-40B4-BE49-F238E27FC236}">
                <a16:creationId xmlns:a16="http://schemas.microsoft.com/office/drawing/2014/main" id="{80FD7D52-6157-4C72-A1C8-FC8BCA1BD3CB}"/>
              </a:ext>
            </a:extLst>
          </p:cNvPr>
          <p:cNvSpPr>
            <a:spLocks xmlns:a="http://schemas.openxmlformats.org/drawingml/2006/main" noGrp="1"/>
          </p:cNvSpPr>
          <p:nvPr/>
        </p:nvSpPr>
        <p:spPr>
          <a:xfrm xmlns:a="http://schemas.openxmlformats.org/drawingml/2006/main">
            <a:off x="6372225" y="50387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defRPr sz="2100" b="1">
                <a:solidFill>
                  <a:srgbClr val="262626"/>
                </a:solidFill>
                <a:latin typeface="Arial"/>
                <a:ea typeface="Arial"/>
                <a:cs typeface="Arial"/>
              </a:defRPr>
            </a:pPr>
            <a:r>
              <a:rPr sz="2100" b="1">
                <a:solidFill>
                  <a:srgbClr val="262626"/>
                </a:solidFill>
                <a:latin typeface="Arial"/>
                <a:ea typeface="Arial"/>
                <a:cs typeface="Arial"/>
              </a:rPr>
              <a:t>Access and field controls</a:t>
            </a:r>
          </a:p>
        </p:txBody>
      </p:sp>
      <p:sp>
        <p:nvSpPr>
          <p:cNvPr id="21" name="Feature description 5">
            <a:extLst xmlns:a="http://schemas.openxmlformats.org/drawingml/2006/main">
              <a:ext uri="{FF2B5EF4-FFF2-40B4-BE49-F238E27FC236}">
                <a16:creationId xmlns:a16="http://schemas.microsoft.com/office/drawing/2014/main" id="{0EA0DBDF-CE04-4E74-BF70-482FAD323CBD}"/>
              </a:ext>
            </a:extLst>
          </p:cNvPr>
          <p:cNvSpPr>
            <a:spLocks xmlns:a="http://schemas.openxmlformats.org/drawingml/2006/main" noGrp="1"/>
          </p:cNvSpPr>
          <p:nvPr/>
        </p:nvSpPr>
        <p:spPr>
          <a:xfrm xmlns:a="http://schemas.openxmlformats.org/drawingml/2006/main">
            <a:off x="6372225" y="54578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Account/device approval, channel permissions, optional Volume Down PTT and Pocket Mode.</a:t>
            </a:r>
          </a:p>
        </p:txBody>
      </p:sp>
      <p:sp>
        <p:nvSpPr>
          <p:cNvPr id="22" name="Feature scope">
            <a:extLst xmlns:a="http://schemas.openxmlformats.org/drawingml/2006/main">
              <a:ext uri="{FF2B5EF4-FFF2-40B4-BE49-F238E27FC236}">
                <a16:creationId xmlns:a16="http://schemas.microsoft.com/office/drawing/2014/main" id="{FE6753E3-E42F-4459-8BB2-D95D8D60AF4A}"/>
              </a:ext>
            </a:extLst>
          </p:cNvPr>
          <p:cNvSpPr>
            <a:spLocks xmlns:a="http://schemas.openxmlformats.org/drawingml/2006/main" noGrp="1"/>
          </p:cNvSpPr>
          <p:nvPr/>
        </p:nvSpPr>
        <p:spPr>
          <a:xfrm xmlns:a="http://schemas.openxmlformats.org/drawingml/2006/main">
            <a:off x="685800" y="6429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66666"/>
                </a:solidFill>
                <a:latin typeface="Arial"/>
                <a:ea typeface="Arial"/>
                <a:cs typeface="Arial"/>
              </a:defRPr>
            </a:defPPr>
          </a:lstStyle>
          <a:p xmlns:a="http://schemas.openxmlformats.org/drawingml/2006/main">
            <a:pPr algn="l">
              <a:defRPr sz="1575" b="0">
                <a:solidFill>
                  <a:srgbClr val="666666"/>
                </a:solidFill>
                <a:latin typeface="Arial"/>
                <a:ea typeface="Arial"/>
                <a:cs typeface="Arial"/>
              </a:defRPr>
            </a:pPr>
            <a:r>
              <a:rPr sz="1575" b="0">
                <a:solidFill>
                  <a:srgbClr val="666666"/>
                </a:solidFill>
                <a:latin typeface="Arial"/>
                <a:ea typeface="Arial"/>
                <a:cs typeface="Arial"/>
              </a:rPr>
              <a:t>The backend and browser also support volunteers in multiple operational channels.</a:t>
            </a:r>
          </a:p>
        </p:txBody>
      </p:sp>
    </p:spTree>
    <p:extLst>
      <p:ext uri="{BB962C8B-B14F-4D97-AF65-F5344CB8AC3E}">
        <p14:creationId xmlns:p14="http://schemas.microsoft.com/office/powerpoint/2010/main" val="9239354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011611-D6DF-8026-ADC6-44DEC249F83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A3628315-6695-9ADA-0D7E-6837BF58D468}"/>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A9B9A600-8AEF-4C49-A2FD-C146703B6762}"/>
              </a:ext>
            </a:extLst>
          </p:cNvPr>
          <p:cNvPicPr>
            <a:picLocks xmlns:a="http://schemas.openxmlformats.org/drawingml/2006/main" noChangeAspect="1"/>
          </p:cNvPicPr>
          <p:nvPr/>
        </p:nvPicPr>
        <p:blipFill>
          <a:blip xmlns:r="http://schemas.openxmlformats.org/officeDocument/2006/relationships" xmlns:a="http://schemas.openxmlformats.org/drawingml/2006/main" r:embed="Raf48d65db2044a0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DB466810-4DAE-4E4D-8C1D-91DA1B4F5EA4}"/>
              </a:ext>
            </a:extLst>
          </p:cNvPr>
          <p:cNvPicPr>
            <a:picLocks xmlns:a="http://schemas.openxmlformats.org/drawingml/2006/main" noChangeAspect="1"/>
          </p:cNvPicPr>
          <p:nvPr/>
        </p:nvPicPr>
        <p:blipFill>
          <a:blip xmlns:r="http://schemas.openxmlformats.org/officeDocument/2006/relationships" xmlns:a="http://schemas.openxmlformats.org/drawingml/2006/main" r:embed="R82bf945e802246f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0FC4D7B-8C51-628B-22F4-69821D1FBAE9}"/>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Live Demo</a:t>
            </a:r>
          </a:p>
        </p:txBody>
      </p:sp>
      <p:sp>
        <p:nvSpPr>
          <p:cNvPr id="9" name="Demo headline">
            <a:extLst xmlns:a="http://schemas.openxmlformats.org/drawingml/2006/main">
              <a:ext uri="{FF2B5EF4-FFF2-40B4-BE49-F238E27FC236}">
                <a16:creationId xmlns:a16="http://schemas.microsoft.com/office/drawing/2014/main" id="{82869636-4BD4-4BE3-B510-D090B69FBA08}"/>
              </a:ext>
            </a:extLst>
          </p:cNvPr>
          <p:cNvSpPr>
            <a:spLocks xmlns:a="http://schemas.openxmlformats.org/drawingml/2006/main" noGrp="1"/>
          </p:cNvSpPr>
          <p:nvPr/>
        </p:nvSpPr>
        <p:spPr>
          <a:xfrm xmlns:a="http://schemas.openxmlformats.org/drawingml/2006/main">
            <a:off x="685800" y="1219200"/>
            <a:ext cx="7905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Demo scenario: a volunteer reports</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 power issue in a hall</a:t>
            </a:r>
          </a:p>
        </p:txBody>
      </p:sp>
      <p:sp>
        <p:nvSpPr>
          <p:cNvPr id="10" name="Demo step 0">
            <a:extLst xmlns:a="http://schemas.openxmlformats.org/drawingml/2006/main">
              <a:ext uri="{FF2B5EF4-FFF2-40B4-BE49-F238E27FC236}">
                <a16:creationId xmlns:a16="http://schemas.microsoft.com/office/drawing/2014/main" id="{BE758D29-9767-4375-B13C-AF1BF703B52A}"/>
              </a:ext>
            </a:extLst>
          </p:cNvPr>
          <p:cNvSpPr>
            <a:spLocks xmlns:a="http://schemas.openxmlformats.org/drawingml/2006/main" noGrp="1"/>
          </p:cNvSpPr>
          <p:nvPr/>
        </p:nvSpPr>
        <p:spPr>
          <a:xfrm xmlns:a="http://schemas.openxmlformats.org/drawingml/2006/main">
            <a:off x="685800" y="2486025"/>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01  Prepare the team</a:t>
            </a:r>
          </a:p>
        </p:txBody>
      </p:sp>
      <p:sp>
        <p:nvSpPr>
          <p:cNvPr id="11" name="Demo action 0">
            <a:extLst xmlns:a="http://schemas.openxmlformats.org/drawingml/2006/main">
              <a:ext uri="{FF2B5EF4-FFF2-40B4-BE49-F238E27FC236}">
                <a16:creationId xmlns:a16="http://schemas.microsoft.com/office/drawing/2014/main" id="{F0768831-346E-40CF-9085-94F257914293}"/>
              </a:ext>
            </a:extLst>
          </p:cNvPr>
          <p:cNvSpPr>
            <a:spLocks xmlns:a="http://schemas.openxmlformats.org/drawingml/2006/main" noGrp="1"/>
          </p:cNvSpPr>
          <p:nvPr/>
        </p:nvSpPr>
        <p:spPr>
          <a:xfrm xmlns:a="http://schemas.openxmlformats.org/drawingml/2006/main">
            <a:off x="685800" y="28479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Approve two phones, select a channel and start duty.</a:t>
            </a:r>
          </a:p>
        </p:txBody>
      </p:sp>
      <p:sp>
        <p:nvSpPr>
          <p:cNvPr id="12" name="Demo step 1">
            <a:extLst xmlns:a="http://schemas.openxmlformats.org/drawingml/2006/main">
              <a:ext uri="{FF2B5EF4-FFF2-40B4-BE49-F238E27FC236}">
                <a16:creationId xmlns:a16="http://schemas.microsoft.com/office/drawing/2014/main" id="{0B839839-42E0-44B9-B487-3A791917EA56}"/>
              </a:ext>
            </a:extLst>
          </p:cNvPr>
          <p:cNvSpPr>
            <a:spLocks xmlns:a="http://schemas.openxmlformats.org/drawingml/2006/main" noGrp="1"/>
          </p:cNvSpPr>
          <p:nvPr/>
        </p:nvSpPr>
        <p:spPr>
          <a:xfrm xmlns:a="http://schemas.openxmlformats.org/drawingml/2006/main">
            <a:off x="685800" y="348615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02  Report and record</a:t>
            </a:r>
          </a:p>
        </p:txBody>
      </p:sp>
      <p:sp>
        <p:nvSpPr>
          <p:cNvPr id="13" name="Demo action 1">
            <a:extLst xmlns:a="http://schemas.openxmlformats.org/drawingml/2006/main">
              <a:ext uri="{FF2B5EF4-FFF2-40B4-BE49-F238E27FC236}">
                <a16:creationId xmlns:a16="http://schemas.microsoft.com/office/drawing/2014/main" id="{D2E4FB6D-CCA2-4299-B998-835F468E96A6}"/>
              </a:ext>
            </a:extLst>
          </p:cNvPr>
          <p:cNvSpPr>
            <a:spLocks xmlns:a="http://schemas.openxmlformats.org/drawingml/2006/main" noGrp="1"/>
          </p:cNvSpPr>
          <p:nvPr/>
        </p:nvSpPr>
        <p:spPr>
          <a:xfrm xmlns:a="http://schemas.openxmlformats.org/drawingml/2006/main">
            <a:off x="685800" y="38481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Hold TALK, then inspect the saved replay and transcript.</a:t>
            </a:r>
          </a:p>
        </p:txBody>
      </p:sp>
      <p:sp>
        <p:nvSpPr>
          <p:cNvPr id="14" name="Demo step 2">
            <a:extLst xmlns:a="http://schemas.openxmlformats.org/drawingml/2006/main">
              <a:ext uri="{FF2B5EF4-FFF2-40B4-BE49-F238E27FC236}">
                <a16:creationId xmlns:a16="http://schemas.microsoft.com/office/drawing/2014/main" id="{DFD6AD16-BC1D-409C-94C9-3D73B69D2FD8}"/>
              </a:ext>
            </a:extLst>
          </p:cNvPr>
          <p:cNvSpPr>
            <a:spLocks xmlns:a="http://schemas.openxmlformats.org/drawingml/2006/main" noGrp="1"/>
          </p:cNvSpPr>
          <p:nvPr/>
        </p:nvSpPr>
        <p:spPr>
          <a:xfrm xmlns:a="http://schemas.openxmlformats.org/drawingml/2006/main">
            <a:off x="685800" y="4486275"/>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03  Coordinate the response</a:t>
            </a:r>
          </a:p>
        </p:txBody>
      </p:sp>
      <p:sp>
        <p:nvSpPr>
          <p:cNvPr id="15" name="Demo action 2">
            <a:extLst xmlns:a="http://schemas.openxmlformats.org/drawingml/2006/main">
              <a:ext uri="{FF2B5EF4-FFF2-40B4-BE49-F238E27FC236}">
                <a16:creationId xmlns:a16="http://schemas.microsoft.com/office/drawing/2014/main" id="{EC3696B0-BCEB-45A6-A054-95EA7161E385}"/>
              </a:ext>
            </a:extLst>
          </p:cNvPr>
          <p:cNvSpPr>
            <a:spLocks xmlns:a="http://schemas.openxmlformats.org/drawingml/2006/main" noGrp="1"/>
          </p:cNvSpPr>
          <p:nvPr/>
        </p:nvSpPr>
        <p:spPr>
          <a:xfrm xmlns:a="http://schemas.openxmlformats.org/drawingml/2006/main">
            <a:off x="685800" y="48482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Check in, create an issue, claim it, reply and resolve it.</a:t>
            </a:r>
          </a:p>
        </p:txBody>
      </p:sp>
      <p:sp>
        <p:nvSpPr>
          <p:cNvPr id="16" name="Demo step 3">
            <a:extLst xmlns:a="http://schemas.openxmlformats.org/drawingml/2006/main">
              <a:ext uri="{FF2B5EF4-FFF2-40B4-BE49-F238E27FC236}">
                <a16:creationId xmlns:a16="http://schemas.microsoft.com/office/drawing/2014/main" id="{C8B43C7C-9162-41FE-806B-9E69F5FDC96B}"/>
              </a:ext>
            </a:extLst>
          </p:cNvPr>
          <p:cNvSpPr>
            <a:spLocks xmlns:a="http://schemas.openxmlformats.org/drawingml/2006/main" noGrp="1"/>
          </p:cNvSpPr>
          <p:nvPr/>
        </p:nvSpPr>
        <p:spPr>
          <a:xfrm xmlns:a="http://schemas.openxmlformats.org/drawingml/2006/main">
            <a:off x="685800" y="548640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defRPr sz="2025" b="1">
                <a:solidFill>
                  <a:srgbClr val="262626"/>
                </a:solidFill>
                <a:latin typeface="Arial"/>
                <a:ea typeface="Arial"/>
                <a:cs typeface="Arial"/>
              </a:defRPr>
            </a:pPr>
            <a:r>
              <a:rPr sz="2025" b="1">
                <a:solidFill>
                  <a:srgbClr val="262626"/>
                </a:solidFill>
                <a:latin typeface="Arial"/>
                <a:ea typeface="Arial"/>
                <a:cs typeface="Arial"/>
              </a:rPr>
              <a:t>04  Demonstrate recovery</a:t>
            </a:r>
          </a:p>
        </p:txBody>
      </p:sp>
      <p:sp>
        <p:nvSpPr>
          <p:cNvPr id="17" name="Demo action 3">
            <a:extLst xmlns:a="http://schemas.openxmlformats.org/drawingml/2006/main">
              <a:ext uri="{FF2B5EF4-FFF2-40B4-BE49-F238E27FC236}">
                <a16:creationId xmlns:a16="http://schemas.microsoft.com/office/drawing/2014/main" id="{916A39EE-B665-4F5F-82F3-CCAEC364ADDD}"/>
              </a:ext>
            </a:extLst>
          </p:cNvPr>
          <p:cNvSpPr>
            <a:spLocks xmlns:a="http://schemas.openxmlformats.org/drawingml/2006/main" noGrp="1"/>
          </p:cNvSpPr>
          <p:nvPr/>
        </p:nvSpPr>
        <p:spPr>
          <a:xfrm xmlns:a="http://schemas.openxmlformats.org/drawingml/2006/main">
            <a:off x="685800" y="58483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defRPr sz="1875" b="0">
                <a:solidFill>
                  <a:srgbClr val="262626"/>
                </a:solidFill>
                <a:latin typeface="Arial"/>
                <a:ea typeface="Arial"/>
                <a:cs typeface="Arial"/>
              </a:defRPr>
            </a:pPr>
            <a:r>
              <a:rPr sz="1875" b="0">
                <a:solidFill>
                  <a:srgbClr val="262626"/>
                </a:solidFill>
                <a:latin typeface="Arial"/>
                <a:ea typeface="Arial"/>
                <a:cs typeface="Arial"/>
              </a:rPr>
              <a:t>With Nearby enabled, pause the API, exchange direct TALK/text, restore it and verify sync.</a:t>
            </a:r>
          </a:p>
        </p:txBody>
      </p:sp>
      <p:pic>
        <p:nvPicPr>
          <p:cNvPr id="18" name="">
            <a:extLst xmlns:a="http://schemas.openxmlformats.org/drawingml/2006/main">
              <a:ext uri="{FF2B5EF4-FFF2-40B4-BE49-F238E27FC236}">
                <a16:creationId xmlns:a16="http://schemas.microsoft.com/office/drawing/2014/main" id="{1F9E5C5E-622B-478A-B7C6-226E2B509F5D}"/>
              </a:ext>
            </a:extLst>
          </p:cNvPr>
          <p:cNvPicPr>
            <a:picLocks xmlns:a="http://schemas.openxmlformats.org/drawingml/2006/main" noChangeAspect="1"/>
          </p:cNvPicPr>
          <p:nvPr/>
        </p:nvPicPr>
        <p:blipFill>
          <a:blip xmlns:r="http://schemas.openxmlformats.org/officeDocument/2006/relationships" xmlns:a="http://schemas.openxmlformats.org/drawingml/2006/main" r:embed="R0fb4e3d82c4e451d"/>
          <a:stretch xmlns:a="http://schemas.openxmlformats.org/drawingml/2006/main"/>
        </p:blipFill>
        <p:spPr>
          <a:xfrm xmlns:a="http://schemas.openxmlformats.org/drawingml/2006/main">
            <a:off x="8972834" y="1219200"/>
            <a:ext cx="2209231" cy="4933950"/>
          </a:xfrm>
          <a:prstGeom xmlns:a="http://schemas.openxmlformats.org/drawingml/2006/main" prst="rect">
            <a:avLst/>
          </a:prstGeom>
        </p:spPr>
      </p:pic>
      <p:sp>
        <p:nvSpPr>
          <p:cNvPr id="19" name="Demo screenshot caption">
            <a:extLst xmlns:a="http://schemas.openxmlformats.org/drawingml/2006/main">
              <a:ext uri="{FF2B5EF4-FFF2-40B4-BE49-F238E27FC236}">
                <a16:creationId xmlns:a16="http://schemas.microsoft.com/office/drawing/2014/main" id="{A240E1E6-230B-4A3E-896E-E89158371DA0}"/>
              </a:ext>
            </a:extLst>
          </p:cNvPr>
          <p:cNvSpPr>
            <a:spLocks xmlns:a="http://schemas.openxmlformats.org/drawingml/2006/main" noGrp="1"/>
          </p:cNvSpPr>
          <p:nvPr/>
        </p:nvSpPr>
        <p:spPr>
          <a:xfrm xmlns:a="http://schemas.openxmlformats.org/drawingml/2006/main">
            <a:off x="8763000" y="626745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defRPr sz="1500" b="0">
                <a:solidFill>
                  <a:srgbClr val="666666"/>
                </a:solidFill>
                <a:latin typeface="Arial"/>
                <a:ea typeface="Arial"/>
                <a:cs typeface="Arial"/>
              </a:defRPr>
            </a:pPr>
            <a:r>
              <a:rPr sz="1500" b="0">
                <a:solidFill>
                  <a:srgbClr val="666666"/>
                </a:solidFill>
                <a:latin typeface="Arial"/>
                <a:ea typeface="Arial"/>
                <a:cs typeface="Arial"/>
              </a:rPr>
              <a:t>Hardware PTT and Nearby</a:t>
            </a:r>
          </a:p>
        </p:txBody>
      </p:sp>
    </p:spTree>
    <p:extLst>
      <p:ext uri="{BB962C8B-B14F-4D97-AF65-F5344CB8AC3E}">
        <p14:creationId xmlns:p14="http://schemas.microsoft.com/office/powerpoint/2010/main" val="15257799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240B35-8928-1435-C70F-8842F31CB568}"/>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9F00631E-DA51-91E2-5F88-8B4B6C022F57}"/>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53EA670E-905B-4F8F-BD69-B2C4CCDC9A3D}"/>
              </a:ext>
            </a:extLst>
          </p:cNvPr>
          <p:cNvPicPr>
            <a:picLocks xmlns:a="http://schemas.openxmlformats.org/drawingml/2006/main" noChangeAspect="1"/>
          </p:cNvPicPr>
          <p:nvPr/>
        </p:nvPicPr>
        <p:blipFill>
          <a:blip xmlns:r="http://schemas.openxmlformats.org/officeDocument/2006/relationships" xmlns:a="http://schemas.openxmlformats.org/drawingml/2006/main" r:embed="Rb6dadf3ce0f9484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AFF8B81B-390F-4EBA-9783-A2EC686321DA}"/>
              </a:ext>
            </a:extLst>
          </p:cNvPr>
          <p:cNvPicPr>
            <a:picLocks xmlns:a="http://schemas.openxmlformats.org/drawingml/2006/main" noChangeAspect="1"/>
          </p:cNvPicPr>
          <p:nvPr/>
        </p:nvPicPr>
        <p:blipFill>
          <a:blip xmlns:r="http://schemas.openxmlformats.org/officeDocument/2006/relationships" xmlns:a="http://schemas.openxmlformats.org/drawingml/2006/main" r:embed="Rb2c32a49209a497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097EC384-8EF2-B395-37B7-36C6527D8447}"/>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Impact, Feasibility and Scalability</a:t>
            </a:r>
          </a:p>
        </p:txBody>
      </p:sp>
      <p:sp>
        <p:nvSpPr>
          <p:cNvPr id="9" name="Content headline">
            <a:extLst xmlns:a="http://schemas.openxmlformats.org/drawingml/2006/main">
              <a:ext uri="{FF2B5EF4-FFF2-40B4-BE49-F238E27FC236}">
                <a16:creationId xmlns:a16="http://schemas.microsoft.com/office/drawing/2014/main" id="{167A5F5A-A4B8-4E58-97CC-BA6E73E6B29F}"/>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 working prototype with evidence</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and a clear path to venue acceptance</a:t>
            </a:r>
          </a:p>
        </p:txBody>
      </p:sp>
      <p:sp>
        <p:nvSpPr>
          <p:cNvPr id="10" name="Impact section">
            <a:extLst xmlns:a="http://schemas.openxmlformats.org/drawingml/2006/main">
              <a:ext uri="{FF2B5EF4-FFF2-40B4-BE49-F238E27FC236}">
                <a16:creationId xmlns:a16="http://schemas.microsoft.com/office/drawing/2014/main" id="{17B40356-27B9-4AEB-8FD0-07A56811B5F9}"/>
              </a:ext>
            </a:extLst>
          </p:cNvPr>
          <p:cNvSpPr>
            <a:spLocks xmlns:a="http://schemas.openxmlformats.org/drawingml/2006/main" noGrp="1"/>
          </p:cNvSpPr>
          <p:nvPr/>
        </p:nvSpPr>
        <p:spPr>
          <a:xfrm xmlns:a="http://schemas.openxmlformats.org/drawingml/2006/main">
            <a:off x="685800" y="2552700"/>
            <a:ext cx="490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defRPr sz="2175" b="1">
                <a:solidFill>
                  <a:srgbClr val="262626"/>
                </a:solidFill>
                <a:latin typeface="Arial"/>
                <a:ea typeface="Arial"/>
                <a:cs typeface="Arial"/>
              </a:defRPr>
            </a:pPr>
            <a:r>
              <a:rPr sz="2175" b="1">
                <a:solidFill>
                  <a:srgbClr val="262626"/>
                </a:solidFill>
                <a:latin typeface="Arial"/>
                <a:ea typeface="Arial"/>
                <a:cs typeface="Arial"/>
              </a:rPr>
              <a:t>Intended operational impact</a:t>
            </a:r>
          </a:p>
        </p:txBody>
      </p:sp>
      <p:sp>
        <p:nvSpPr>
          <p:cNvPr id="11" name="Impact content">
            <a:extLst xmlns:a="http://schemas.openxmlformats.org/drawingml/2006/main">
              <a:ext uri="{FF2B5EF4-FFF2-40B4-BE49-F238E27FC236}">
                <a16:creationId xmlns:a16="http://schemas.microsoft.com/office/drawing/2014/main" id="{994F7E02-5879-46B3-BCE8-6EB8BB41E666}"/>
              </a:ext>
            </a:extLst>
          </p:cNvPr>
          <p:cNvSpPr>
            <a:spLocks xmlns:a="http://schemas.openxmlformats.org/drawingml/2006/main" noGrp="1"/>
          </p:cNvSpPr>
          <p:nvPr/>
        </p:nvSpPr>
        <p:spPr>
          <a:xfrm xmlns:a="http://schemas.openxmlformats.org/drawingml/2006/main">
            <a:off x="685800" y="3124200"/>
            <a:ext cx="49339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Route requests to permitted teams.</a:t>
            </a:r>
          </a:p>
          <a:p xmlns:a="http://schemas.openxmlformats.org/drawingml/2006/main">
            <a:r>
              <a:t/>
            </a:r>
          </a:p>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Give each issue a visible owner and status.</a:t>
            </a:r>
          </a:p>
          <a:p xmlns:a="http://schemas.openxmlformats.org/drawingml/2006/main">
            <a:r>
              <a:t/>
            </a:r>
          </a:p>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Keep voice reports available for replay and acknowledgement.</a:t>
            </a:r>
          </a:p>
          <a:p xmlns:a="http://schemas.openxmlformats.org/drawingml/2006/main">
            <a:r>
              <a:t/>
            </a:r>
          </a:p>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Let organisations host their data and services.</a:t>
            </a:r>
          </a:p>
        </p:txBody>
      </p:sp>
      <p:sp>
        <p:nvSpPr>
          <p:cNvPr id="12" name="Feasibility section">
            <a:extLst xmlns:a="http://schemas.openxmlformats.org/drawingml/2006/main">
              <a:ext uri="{FF2B5EF4-FFF2-40B4-BE49-F238E27FC236}">
                <a16:creationId xmlns:a16="http://schemas.microsoft.com/office/drawing/2014/main" id="{EB122406-8B81-4CFC-AEED-6AF2B80FD1CF}"/>
              </a:ext>
            </a:extLst>
          </p:cNvPr>
          <p:cNvSpPr>
            <a:spLocks xmlns:a="http://schemas.openxmlformats.org/drawingml/2006/main" noGrp="1"/>
          </p:cNvSpPr>
          <p:nvPr/>
        </p:nvSpPr>
        <p:spPr>
          <a:xfrm xmlns:a="http://schemas.openxmlformats.org/drawingml/2006/main">
            <a:off x="6429375" y="255270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defRPr sz="2175" b="1">
                <a:solidFill>
                  <a:srgbClr val="262626"/>
                </a:solidFill>
                <a:latin typeface="Arial"/>
                <a:ea typeface="Arial"/>
                <a:cs typeface="Arial"/>
              </a:defRPr>
            </a:pPr>
            <a:r>
              <a:rPr sz="2175" b="1">
                <a:solidFill>
                  <a:srgbClr val="262626"/>
                </a:solidFill>
                <a:latin typeface="Arial"/>
                <a:ea typeface="Arial"/>
                <a:cs typeface="Arial"/>
              </a:rPr>
              <a:t>Feasibility and scalability</a:t>
            </a:r>
          </a:p>
        </p:txBody>
      </p:sp>
      <p:sp>
        <p:nvSpPr>
          <p:cNvPr id="13" name="Feasibility content">
            <a:extLst xmlns:a="http://schemas.openxmlformats.org/drawingml/2006/main">
              <a:ext uri="{FF2B5EF4-FFF2-40B4-BE49-F238E27FC236}">
                <a16:creationId xmlns:a16="http://schemas.microsoft.com/office/drawing/2014/main" id="{8BE20C42-CFA2-4261-91F0-D891BA474C98}"/>
              </a:ext>
            </a:extLst>
          </p:cNvPr>
          <p:cNvSpPr>
            <a:spLocks xmlns:a="http://schemas.openxmlformats.org/drawingml/2006/main" noGrp="1"/>
          </p:cNvSpPr>
          <p:nvPr/>
        </p:nvSpPr>
        <p:spPr>
          <a:xfrm xmlns:a="http://schemas.openxmlformats.org/drawingml/2006/main">
            <a:off x="6429375" y="3124200"/>
            <a:ext cx="4962525"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34/34 backend tests passed in the recorded verification run.</a:t>
            </a:r>
          </a:p>
          <a:p xmlns:a="http://schemas.openxmlformats.org/drawingml/2006/main">
            <a:r>
              <a:t/>
            </a:r>
          </a:p>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Two physical Android phones completed direct Nearby outage/recovery tests.</a:t>
            </a:r>
          </a:p>
          <a:p xmlns:a="http://schemas.openxmlformats.org/drawingml/2006/main">
            <a:r>
              <a:t/>
            </a:r>
          </a:p>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Android, browser and server components have build and device evidence.</a:t>
            </a:r>
          </a:p>
        </p:txBody>
      </p:sp>
      <p:sp>
        <p:nvSpPr>
          <p:cNvPr id="14" name="Scalability qualification">
            <a:extLst xmlns:a="http://schemas.openxmlformats.org/drawingml/2006/main">
              <a:ext uri="{FF2B5EF4-FFF2-40B4-BE49-F238E27FC236}">
                <a16:creationId xmlns:a16="http://schemas.microsoft.com/office/drawing/2014/main" id="{4FA3959F-A437-4249-B6D9-030DF1ABBCDC}"/>
              </a:ext>
            </a:extLst>
          </p:cNvPr>
          <p:cNvSpPr>
            <a:spLocks xmlns:a="http://schemas.openxmlformats.org/drawingml/2006/main" noGrp="1"/>
          </p:cNvSpPr>
          <p:nvPr/>
        </p:nvSpPr>
        <p:spPr>
          <a:xfrm xmlns:a="http://schemas.openxmlformats.org/drawingml/2006/main">
            <a:off x="685800" y="6000750"/>
            <a:ext cx="1068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55555"/>
                </a:solidFill>
                <a:latin typeface="Arial"/>
                <a:ea typeface="Arial"/>
                <a:cs typeface="Arial"/>
              </a:defRPr>
            </a:defPPr>
          </a:lstStyle>
          <a:p xmlns:a="http://schemas.openxmlformats.org/drawingml/2006/main">
            <a:pPr algn="l">
              <a:defRPr sz="1725" b="0">
                <a:solidFill>
                  <a:srgbClr val="555555"/>
                </a:solidFill>
                <a:latin typeface="Arial"/>
                <a:ea typeface="Arial"/>
                <a:cs typeface="Arial"/>
              </a:defRPr>
            </a:pPr>
            <a:r>
              <a:rPr sz="1725" b="0">
                <a:solidFill>
                  <a:srgbClr val="555555"/>
                </a:solidFill>
                <a:latin typeface="Arial"/>
                <a:ea typeface="Arial"/>
                <a:cs typeface="Arial"/>
              </a:rPr>
              <a:t>Venue-scale load, radio range, longer duty sessions and deployment acceptance remain to be tested. No staff-capacity or response-time claim yet.</a:t>
            </a:r>
          </a:p>
        </p:txBody>
      </p:sp>
    </p:spTree>
    <p:extLst>
      <p:ext uri="{BB962C8B-B14F-4D97-AF65-F5344CB8AC3E}">
        <p14:creationId xmlns:p14="http://schemas.microsoft.com/office/powerpoint/2010/main" val="2839349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F5926-9B94-82D9-B015-3FD4665505F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8E12BB95-8FB5-02E2-58B4-71F167FCAB86}"/>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55509C04-A9BE-4650-B481-25A11E0115E4}"/>
              </a:ext>
            </a:extLst>
          </p:cNvPr>
          <p:cNvPicPr>
            <a:picLocks xmlns:a="http://schemas.openxmlformats.org/drawingml/2006/main" noChangeAspect="1"/>
          </p:cNvPicPr>
          <p:nvPr/>
        </p:nvPicPr>
        <p:blipFill>
          <a:blip xmlns:r="http://schemas.openxmlformats.org/officeDocument/2006/relationships" xmlns:a="http://schemas.openxmlformats.org/drawingml/2006/main" r:embed="R1a6f1d555c8e43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2E1A5761-DC97-4261-90FA-727F526165C8}"/>
              </a:ext>
            </a:extLst>
          </p:cNvPr>
          <p:cNvPicPr>
            <a:picLocks xmlns:a="http://schemas.openxmlformats.org/drawingml/2006/main" noChangeAspect="1"/>
          </p:cNvPicPr>
          <p:nvPr/>
        </p:nvPicPr>
        <p:blipFill>
          <a:blip xmlns:r="http://schemas.openxmlformats.org/officeDocument/2006/relationships" xmlns:a="http://schemas.openxmlformats.org/drawingml/2006/main" r:embed="R4878ed6a10dc4c6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90B4AA1-7491-5D09-DD6B-C5DC2215B24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Conclusion</a:t>
            </a:r>
          </a:p>
        </p:txBody>
      </p:sp>
      <p:sp>
        <p:nvSpPr>
          <p:cNvPr id="9" name="Content headline">
            <a:extLst xmlns:a="http://schemas.openxmlformats.org/drawingml/2006/main">
              <a:ext uri="{FF2B5EF4-FFF2-40B4-BE49-F238E27FC236}">
                <a16:creationId xmlns:a16="http://schemas.microsoft.com/office/drawing/2014/main" id="{D3643466-2CEE-4C50-9646-5BAB6CBB8475}"/>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Kettoo connects event communication</a:t>
            </a:r>
          </a:p>
          <a:p xmlns:a="http://schemas.openxmlformats.org/drawingml/2006/main">
            <a:pPr algn="l">
              <a:defRPr sz="3000" b="1">
                <a:solidFill>
                  <a:srgbClr val="262626"/>
                </a:solidFill>
                <a:latin typeface="Arial"/>
                <a:ea typeface="Arial"/>
                <a:cs typeface="Arial"/>
              </a:defRPr>
            </a:pPr>
            <a:r>
              <a:rPr sz="3000" b="1">
                <a:solidFill>
                  <a:srgbClr val="262626"/>
                </a:solidFill>
                <a:latin typeface="Arial"/>
                <a:ea typeface="Arial"/>
                <a:cs typeface="Arial"/>
              </a:rPr>
              <a:t>with accountable issue handling</a:t>
            </a:r>
          </a:p>
        </p:txBody>
      </p:sp>
      <p:sp>
        <p:nvSpPr>
          <p:cNvPr id="10" name="Conclusion statement">
            <a:extLst xmlns:a="http://schemas.openxmlformats.org/drawingml/2006/main">
              <a:ext uri="{FF2B5EF4-FFF2-40B4-BE49-F238E27FC236}">
                <a16:creationId xmlns:a16="http://schemas.microsoft.com/office/drawing/2014/main" id="{EB162C25-1E2F-4260-B219-2A7967A455FB}"/>
              </a:ext>
            </a:extLst>
          </p:cNvPr>
          <p:cNvSpPr>
            <a:spLocks xmlns:a="http://schemas.openxmlformats.org/drawingml/2006/main" noGrp="1"/>
          </p:cNvSpPr>
          <p:nvPr/>
        </p:nvSpPr>
        <p:spPr>
          <a:xfrm xmlns:a="http://schemas.openxmlformats.org/drawingml/2006/main">
            <a:off x="685800" y="2667000"/>
            <a:ext cx="106489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262626"/>
                </a:solidFill>
                <a:latin typeface="Arial"/>
                <a:ea typeface="Arial"/>
                <a:cs typeface="Arial"/>
              </a:defRPr>
            </a:defPPr>
          </a:lstStyle>
          <a:p xmlns:a="http://schemas.openxmlformats.org/drawingml/2006/main">
            <a:pPr algn="l">
              <a:defRPr sz="2400" b="0">
                <a:solidFill>
                  <a:srgbClr val="262626"/>
                </a:solidFill>
                <a:latin typeface="Arial"/>
                <a:ea typeface="Arial"/>
                <a:cs typeface="Arial"/>
              </a:defRPr>
            </a:pPr>
            <a:r>
              <a:rPr sz="2400" b="0">
                <a:solidFill>
                  <a:srgbClr val="262626"/>
                </a:solidFill>
                <a:latin typeface="Arial"/>
                <a:ea typeface="Arial"/>
                <a:cs typeface="Arial"/>
              </a:rPr>
              <a:t>We have built an Android app, a browser console and a private backend for event teams to communicate, report their zone and manage issues through resolution.</a:t>
            </a:r>
          </a:p>
        </p:txBody>
      </p:sp>
      <p:sp>
        <p:nvSpPr>
          <p:cNvPr id="11" name="Conclusion strengths label">
            <a:extLst xmlns:a="http://schemas.openxmlformats.org/drawingml/2006/main">
              <a:ext uri="{FF2B5EF4-FFF2-40B4-BE49-F238E27FC236}">
                <a16:creationId xmlns:a16="http://schemas.microsoft.com/office/drawing/2014/main" id="{EA67FF76-9C4E-4409-AD78-E01F5BE6C323}"/>
              </a:ext>
            </a:extLst>
          </p:cNvPr>
          <p:cNvSpPr>
            <a:spLocks xmlns:a="http://schemas.openxmlformats.org/drawingml/2006/main" noGrp="1"/>
          </p:cNvSpPr>
          <p:nvPr/>
        </p:nvSpPr>
        <p:spPr>
          <a:xfrm xmlns:a="http://schemas.openxmlformats.org/drawingml/2006/main">
            <a:off x="685800" y="4076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defRPr sz="2175" b="1">
                <a:solidFill>
                  <a:srgbClr val="262626"/>
                </a:solidFill>
                <a:latin typeface="Arial"/>
                <a:ea typeface="Arial"/>
                <a:cs typeface="Arial"/>
              </a:defRPr>
            </a:pPr>
            <a:r>
              <a:rPr sz="2175" b="1">
                <a:solidFill>
                  <a:srgbClr val="262626"/>
                </a:solidFill>
                <a:latin typeface="Arial"/>
                <a:ea typeface="Arial"/>
                <a:cs typeface="Arial"/>
              </a:rPr>
              <a:t>Core strengths</a:t>
            </a:r>
          </a:p>
        </p:txBody>
      </p:sp>
      <p:sp>
        <p:nvSpPr>
          <p:cNvPr id="12" name="Conclusion strengths">
            <a:extLst xmlns:a="http://schemas.openxmlformats.org/drawingml/2006/main">
              <a:ext uri="{FF2B5EF4-FFF2-40B4-BE49-F238E27FC236}">
                <a16:creationId xmlns:a16="http://schemas.microsoft.com/office/drawing/2014/main" id="{542FFF8C-1ACF-48DD-8A94-F2E216EED7E7}"/>
              </a:ext>
            </a:extLst>
          </p:cNvPr>
          <p:cNvSpPr>
            <a:spLocks xmlns:a="http://schemas.openxmlformats.org/drawingml/2006/main" noGrp="1"/>
          </p:cNvSpPr>
          <p:nvPr/>
        </p:nvSpPr>
        <p:spPr>
          <a:xfrm xmlns:a="http://schemas.openxmlformats.org/drawingml/2006/main">
            <a:off x="685800" y="45720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2626"/>
                </a:solidFill>
                <a:latin typeface="Arial"/>
                <a:ea typeface="Arial"/>
                <a:cs typeface="Arial"/>
              </a:defRPr>
            </a:defPPr>
          </a:lstStyle>
          <a:p xmlns:a="http://schemas.openxmlformats.org/drawingml/2006/main">
            <a:pPr algn="l">
              <a:defRPr sz="2175" b="0">
                <a:solidFill>
                  <a:srgbClr val="262626"/>
                </a:solidFill>
                <a:latin typeface="Arial"/>
                <a:ea typeface="Arial"/>
                <a:cs typeface="Arial"/>
              </a:defRPr>
            </a:pPr>
            <a:r>
              <a:rPr sz="2175" b="0">
                <a:solidFill>
                  <a:srgbClr val="262626"/>
                </a:solidFill>
                <a:latin typeface="Arial"/>
                <a:ea typeface="Arial"/>
                <a:cs typeface="Arial"/>
              </a:rPr>
              <a:t>Immediate voice with a durable history.</a:t>
            </a:r>
          </a:p>
          <a:p xmlns:a="http://schemas.openxmlformats.org/drawingml/2006/main">
            <a:pPr algn="l">
              <a:defRPr sz="2175" b="0">
                <a:solidFill>
                  <a:srgbClr val="262626"/>
                </a:solidFill>
                <a:latin typeface="Arial"/>
                <a:ea typeface="Arial"/>
                <a:cs typeface="Arial"/>
              </a:defRPr>
            </a:pPr>
            <a:r>
              <a:rPr sz="2175" b="0">
                <a:solidFill>
                  <a:srgbClr val="262626"/>
                </a:solidFill>
                <a:latin typeface="Arial"/>
                <a:ea typeface="Arial"/>
                <a:cs typeface="Arial"/>
              </a:rPr>
              <a:t>Permission-controlled access and local speech.</a:t>
            </a:r>
          </a:p>
          <a:p xmlns:a="http://schemas.openxmlformats.org/drawingml/2006/main">
            <a:pPr algn="l">
              <a:defRPr sz="2175" b="0">
                <a:solidFill>
                  <a:srgbClr val="262626"/>
                </a:solidFill>
                <a:latin typeface="Arial"/>
                <a:ea typeface="Arial"/>
                <a:cs typeface="Arial"/>
              </a:defRPr>
            </a:pPr>
            <a:r>
              <a:rPr sz="2175" b="0">
                <a:solidFill>
                  <a:srgbClr val="262626"/>
                </a:solidFill>
                <a:latin typeface="Arial"/>
                <a:ea typeface="Arial"/>
                <a:cs typeface="Arial"/>
              </a:rPr>
              <a:t>Queued recovery and direct Android Nearby fallback.</a:t>
            </a:r>
          </a:p>
        </p:txBody>
      </p:sp>
      <p:sp>
        <p:nvSpPr>
          <p:cNvPr id="13" name="Conclusion next milestone">
            <a:extLst xmlns:a="http://schemas.openxmlformats.org/drawingml/2006/main">
              <a:ext uri="{FF2B5EF4-FFF2-40B4-BE49-F238E27FC236}">
                <a16:creationId xmlns:a16="http://schemas.microsoft.com/office/drawing/2014/main" id="{704850FF-4935-4C6B-86BB-2EC9A421BC69}"/>
              </a:ext>
            </a:extLst>
          </p:cNvPr>
          <p:cNvSpPr>
            <a:spLocks xmlns:a="http://schemas.openxmlformats.org/drawingml/2006/main" noGrp="1"/>
          </p:cNvSpPr>
          <p:nvPr/>
        </p:nvSpPr>
        <p:spPr>
          <a:xfrm xmlns:a="http://schemas.openxmlformats.org/drawingml/2006/main">
            <a:off x="685800" y="5991225"/>
            <a:ext cx="10620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55555"/>
                </a:solidFill>
                <a:latin typeface="Arial"/>
                <a:ea typeface="Arial"/>
                <a:cs typeface="Arial"/>
              </a:defRPr>
            </a:defPPr>
          </a:lstStyle>
          <a:p xmlns:a="http://schemas.openxmlformats.org/drawingml/2006/main">
            <a:pPr algn="l">
              <a:defRPr sz="1800" b="0">
                <a:solidFill>
                  <a:srgbClr val="555555"/>
                </a:solidFill>
                <a:latin typeface="Arial"/>
                <a:ea typeface="Arial"/>
                <a:cs typeface="Arial"/>
              </a:defRPr>
            </a:pPr>
            <a:r>
              <a:rPr sz="1800" b="0">
                <a:solidFill>
                  <a:srgbClr val="555555"/>
                </a:solidFill>
                <a:latin typeface="Arial"/>
                <a:ea typeface="Arial"/>
                <a:cs typeface="Arial"/>
              </a:rPr>
              <a:t>Next milestone: complete acceptance testing under realistic venue conditions, then prepare a signed release and organisation deployment.</a:t>
            </a:r>
          </a:p>
        </p:txBody>
      </p:sp>
    </p:spTree>
    <p:extLst>
      <p:ext uri="{BB962C8B-B14F-4D97-AF65-F5344CB8AC3E}">
        <p14:creationId xmlns:p14="http://schemas.microsoft.com/office/powerpoint/2010/main" val="36559432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2026-10-10T01:41:50.8530000Z</dcterms:created>
  <dcterms:modified xsi:type="dcterms:W3CDTF">2026-10-10T01:41:50.8530000Z</dcterms:modified>
</coreProperties>
</file>