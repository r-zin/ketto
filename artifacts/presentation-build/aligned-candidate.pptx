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5c6b1f133044cb" /><Relationship Type="http://schemas.openxmlformats.org/officeDocument/2006/relationships/extended-properties" Target="/docProps/app.xml" Id="Rf21469560a5a4a66" /><Relationship Type="http://schemas.openxmlformats.org/officeDocument/2006/relationships/officeDocument" Target="/ppt/presentation.xml" Id="R471b5a6c2cdd4e45" /></Relationships>
</file>

<file path=ppt/presentation.xml><?xml version="1.0" encoding="utf-8"?>
<p:presentation xmlns:p="http://schemas.openxmlformats.org/presentationml/2006/main">
  <p:sldMasterIdLst>
    <p:sldMasterId xmlns:r="http://schemas.openxmlformats.org/officeDocument/2006/relationships" id="2147483648" r:id="Rfdcb82e461584199"/>
  </p:sldMasterIdLst>
  <p:notesMasterIdLst>
    <p:notesMasterId xmlns:r="http://schemas.openxmlformats.org/officeDocument/2006/relationships" r:id="R8f631451ee004518"/>
  </p:notesMasterIdLst>
  <p:sldIdLst>
    <p:sldId xmlns:r="http://schemas.openxmlformats.org/officeDocument/2006/relationships" id="256" r:id="R1f285a69d3cc48a5"/>
    <p:sldId xmlns:r="http://schemas.openxmlformats.org/officeDocument/2006/relationships" id="257" r:id="R4c1cf9f428c64c0d"/>
    <p:sldId xmlns:r="http://schemas.openxmlformats.org/officeDocument/2006/relationships" id="258" r:id="Ra1c8bddcd1e943d0"/>
    <p:sldId xmlns:r="http://schemas.openxmlformats.org/officeDocument/2006/relationships" id="259" r:id="Ref76483c3e4540a7"/>
    <p:sldId xmlns:r="http://schemas.openxmlformats.org/officeDocument/2006/relationships" id="260" r:id="R3d64ae08b9f5447f"/>
    <p:sldId xmlns:r="http://schemas.openxmlformats.org/officeDocument/2006/relationships" id="261" r:id="R20eb94d78c104a7e"/>
    <p:sldId xmlns:r="http://schemas.openxmlformats.org/officeDocument/2006/relationships" id="262" r:id="R492d35ffde5c4848"/>
    <p:sldId xmlns:r="http://schemas.openxmlformats.org/officeDocument/2006/relationships" id="263" r:id="Raacc3ace71e949f1"/>
    <p:sldId xmlns:r="http://schemas.openxmlformats.org/officeDocument/2006/relationships" id="264" r:id="Ra66cb2b0badf4f7f"/>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11dc7b32aa44af7" /><Relationship Type="http://schemas.openxmlformats.org/officeDocument/2006/relationships/slideMaster" Target="/ppt/slideMasters/slideMaster1.xml" Id="Rfdcb82e461584199" /><Relationship Type="http://schemas.openxmlformats.org/officeDocument/2006/relationships/notesMaster" Target="/ppt/notesMasters/notesMaster1.xml" Id="R8f631451ee004518" /><Relationship Type="http://schemas.openxmlformats.org/officeDocument/2006/relationships/presProps" Target="/ppt/presProps.xml" Id="R3cd7971739f94444" /><Relationship Type="http://schemas.openxmlformats.org/officeDocument/2006/relationships/viewProps" Target="/ppt/viewProps.xml" Id="R6aeb22afb3314fd7" /><Relationship Type="http://schemas.openxmlformats.org/officeDocument/2006/relationships/tableStyles" Target="/ppt/tableStyles.xml" Id="Rf5db2e77d947479d" /><Relationship Type="http://schemas.openxmlformats.org/officeDocument/2006/relationships/slide" Target="/ppt/slides/slide1.xml" Id="R1f285a69d3cc48a5" /><Relationship Type="http://schemas.openxmlformats.org/officeDocument/2006/relationships/slide" Target="/ppt/slides/slide2.xml" Id="R4c1cf9f428c64c0d" /><Relationship Type="http://schemas.openxmlformats.org/officeDocument/2006/relationships/slide" Target="/ppt/slides/slide3.xml" Id="Ra1c8bddcd1e943d0" /><Relationship Type="http://schemas.openxmlformats.org/officeDocument/2006/relationships/slide" Target="/ppt/slides/slide4.xml" Id="Ref76483c3e4540a7" /><Relationship Type="http://schemas.openxmlformats.org/officeDocument/2006/relationships/slide" Target="/ppt/slides/slide5.xml" Id="R3d64ae08b9f5447f" /><Relationship Type="http://schemas.openxmlformats.org/officeDocument/2006/relationships/slide" Target="/ppt/slides/slide6.xml" Id="R20eb94d78c104a7e" /><Relationship Type="http://schemas.openxmlformats.org/officeDocument/2006/relationships/slide" Target="/ppt/slides/slide7.xml" Id="R492d35ffde5c4848" /><Relationship Type="http://schemas.openxmlformats.org/officeDocument/2006/relationships/slide" Target="/ppt/slides/slide8.xml" Id="Raacc3ace71e949f1" /><Relationship Type="http://schemas.openxmlformats.org/officeDocument/2006/relationships/slide" Target="/ppt/slides/slide9.xml" Id="Ra66cb2b0badf4f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3c8017ae2c46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89ec5453b741f7" /><Relationship Type="http://schemas.openxmlformats.org/officeDocument/2006/relationships/notesMaster" Target="/ppt/notesMasters/notesMaster1.xml" Id="R5f760174e04a40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e3332faeb34c33" /><Relationship Type="http://schemas.openxmlformats.org/officeDocument/2006/relationships/notesMaster" Target="/ppt/notesMasters/notesMaster1.xml" Id="R1d19e9016f2340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1aa4dd48d34abd" /><Relationship Type="http://schemas.openxmlformats.org/officeDocument/2006/relationships/notesMaster" Target="/ppt/notesMasters/notesMaster1.xml" Id="Ra7d20ea6892a41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44f15416624704" /><Relationship Type="http://schemas.openxmlformats.org/officeDocument/2006/relationships/notesMaster" Target="/ppt/notesMasters/notesMaster1.xml" Id="Rce5733471f0142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a6af6368bb45ed" /><Relationship Type="http://schemas.openxmlformats.org/officeDocument/2006/relationships/notesMaster" Target="/ppt/notesMasters/notesMaster1.xml" Id="R3812c18e7cd14f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3c275532654ea4" /><Relationship Type="http://schemas.openxmlformats.org/officeDocument/2006/relationships/notesMaster" Target="/ppt/notesMasters/notesMaster1.xml" Id="R1aa694a29df94b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dcc191cca240c7" /><Relationship Type="http://schemas.openxmlformats.org/officeDocument/2006/relationships/notesMaster" Target="/ppt/notesMasters/notesMaster1.xml" Id="Recd1687fbf6d4d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22cbbb323f483a" /><Relationship Type="http://schemas.openxmlformats.org/officeDocument/2006/relationships/notesMaster" Target="/ppt/notesMasters/notesMaster1.xml" Id="R0126eeb6516044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428ea0fa314a7e" /><Relationship Type="http://schemas.openxmlformats.org/officeDocument/2006/relationships/notesMaster" Target="/ppt/notesMasters/notesMaster1.xml" Id="Rbf5bc5ef189447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Kettoo is a native Android app, browser console and organisation-hosted backend for event communication and coordination. The implementation includes live push-to-talk, messages, venue check-ins and issue workflows. Source: PROJECT_SUMMARY.md and README.md in the Kettoo project, reviewed 10 October 2026. Team name: Codio, as supplied by the presenter. Team number omitted at the presenter's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challenge identifies conferences, hackathons, malls and hospitals as use cases. Kettoo currently has a development/demo implementation with event-oriented venue operations. These sectors are intended applications, not established customers or validated hospital deployments. Core capabilities: PTT, text/media, private voice/video calls, approved organisational membership, admin controls, broadcast and local infrastructure. Direct Nearby is Android-only fallback. Sources: user-supplied problem statement; README.md; PROJECT_SUMMARY.md; docs/nearby-failover.md.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problem statement supplied by the user. Paragraph breaks added for readability. The brief sets requirements, not verified findings about current customers or cost savings. Smartphones also need charging. Kettoo online media uses organisation-hosted LiveKit, with direct Nearby fallback on Android. Private PTT has permission restrictions; it is not arbitrary one-to-one PTT for every approved pair. Locked-screen receive has historical device evidence, while guaranteed locked-screen hardware transmission and congestion performance still need acceptance. Source: user-supplied challenge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links immediate communication to a durable operational record. Private calls, attachments, messages and archive complement PTT. Ownership changes and acknowledgements need server confirmation. Vosk provides recorded-message English transcription, not live captions. Screenshot is an actual historical installed-app capture and shows the message composer above the keyboard.</a:t>
            </a:r>
          </a:p>
          <a:p xmlns:a="http://schemas.openxmlformats.org/drawingml/2006/main">
            <a:r>
              <a:t/>
            </a:r>
          </a:p>
          <a:p xmlns:a="http://schemas.openxmlformats.org/drawingml/2006/main">
            <a:r>
              <a:t>Sources: PROJECT_SUMMARY.md sections 3.2–3.5, 3.9 and 3.10; docs/ui-ux-review-comms.md; image: artifacts/ui-review/2026-10-10/cph2613-message-log-keyboard-final.png. Project records reviewed 10 October 2026.</a:t>
            </a:r>
          </a:p>
          <a:p xmlns:a="http://schemas.openxmlformats.org/drawingml/2006/main">
            <a:r>
              <a:t/>
            </a:r>
          </a:p>
          <a:p xmlns:a="http://schemas.openxmlformats.org/drawingml/2006/main">
            <a:r>
              <a:t>Alignment with supplied challenge: authorised membership, admin channel/presence controls, all-staff broadcast and private organisational infrastructure. Private live PTT requires eligible teammate or duty-admin access, while approved private text/calls have separate rights. Device-to-device communication currently acts as outage fallback, rather than the primary online path. No measured congestion or universal locked-phone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API derives media room grants and manages speaking leases. SQLite and private files store server state. Android Room and browser IndexedDB preserve pending operations. Nearby is an Android-only direct transport, not a replicated venue database or multi-hop mesh. Vosk runs on-device and in a local server worker, with FFmpeg handling uploaded audio formats. Deployment uses a Node application service, LiveKit and Caddy HTTPS.</a:t>
            </a:r>
          </a:p>
          <a:p xmlns:a="http://schemas.openxmlformats.org/drawingml/2006/main">
            <a:r>
              <a:t/>
            </a:r>
          </a:p>
          <a:p xmlns:a="http://schemas.openxmlformats.org/drawingml/2006/main">
            <a:r>
              <a:t>Sources: PROJECT_SUMMARY.md section 5; README.md; server/package.json; web/package.json; docs/nearby-failover.md; server/speech/README.md. Project records reviewed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groups describe implemented capabilities. Acknowledgement, calls and issue ownership need the server. Nearby requires approved phones, permissions and unexpired credentials. Locked-screen key behaviour remains device dependent. The current backend/browser multi-channel model supersedes the original single-team rule; full Android multi-channel acceptance remains open.</a:t>
            </a:r>
          </a:p>
          <a:p xmlns:a="http://schemas.openxmlformats.org/drawingml/2006/main">
            <a:r>
              <a:t/>
            </a:r>
          </a:p>
          <a:p xmlns:a="http://schemas.openxmlformats.org/drawingml/2006/main">
            <a:r>
              <a:t>Sources: PROJECT_SUMMARY.md sections 3.1–3.11; README.md; docs/nearby-failover.md; docs/ui-ux-review-settings.md; server/src/phase2.ts; server/src/db.ts. Project records reviewed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live demonstration sequence using implemented features, not a claim that this presentation session performed it. Before presenting, approve all devices, configure a real floor/zone, connect the media service and confirm the English model. Use a designated duty admin if demonstrating private exchanges. Enable Nearby on both approved phones and keep credentials valid. Controlled API-outage testing must keep the access point and radios available. Restore the API after the demonstration. The selected screenshot shows the feature controls with Nearby off and the phone off duty, so enable these before a real demo. The power issue and hall are illustrative.</a:t>
            </a:r>
          </a:p>
          <a:p xmlns:a="http://schemas.openxmlformats.org/drawingml/2006/main">
            <a:r>
              <a:t/>
            </a:r>
          </a:p>
          <a:p xmlns:a="http://schemas.openxmlformats.org/drawingml/2006/main">
            <a:r>
              <a:t>Sources: PROJECT_SUMMARY.md sections 3 and 6; overview_phase3.md demo sequence; docs/nearby-failover.md; image: artifacts/ui-review/2026-10-10/cph2613-settings-installed-final-middle.png. Project records reviewed 10 October 2026.</a:t>
            </a:r>
          </a:p>
          <a:p xmlns:a="http://schemas.openxmlformats.org/drawingml/2006/main">
            <a:r>
              <a:t/>
            </a:r>
          </a:p>
          <a:p xmlns:a="http://schemas.openxmlformats.org/drawingml/2006/main">
            <a:r>
              <a:t>Revised core demo aligns with the supplied challenge. Show message/video attachment and voice/video call eligibility, then admin presence and All Staff broadcast. End any call or reserved exchange before competing audio. For issue operations, use an optional extension after the core communication demo. Locked-phone receive should be checked on the actual phones. Do not imply guaranteed locked-screen PTT.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statements are expected benefits, not measured improvements. The 34/34 result comes from the backend suite run while preparing PROJECT_SUMMARY.md on 10 October 2026, not a fresh run for this deck. Earlier verification counts belong to separate snapshots and must not be summed. Nearby physical tests involved OnePlus CPH2613 and Samsung SM-A356E with the local API paused while the Wi-Fi access point remained available. Playback counters confirm audio output delivery, not subjective intelligibility. Historical builds/lint and specific phone checks do not prove production acceptance. No deployment cost estimate, performance benchmark or maximum volunteer count is established.</a:t>
            </a:r>
          </a:p>
          <a:p xmlns:a="http://schemas.openxmlformats.org/drawingml/2006/main">
            <a:r>
              <a:t/>
            </a:r>
          </a:p>
          <a:p xmlns:a="http://schemas.openxmlformats.org/drawingml/2006/main">
            <a:r>
              <a:t>Sources: PROJECT_SUMMARY.md sections 4, 6 and 7; VERIFICATION.md; overview_till_phase2.md; docs/nearby-failover.md; docs/ui-ux-review-settings.md. Project records reviewed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complete workflow: reach a team, retain the report, associate it with a place, confirm responsibility and record resolution. The current project is a development/demo implementation through Phase 3 with selected real-device evidence. Future work is broader device, venue load/range, noise/accent, long-session and deployment acceptance. Nearby remains direct peer-to-peer, and no venue-wide mesh guarantee is claimed.</a:t>
            </a:r>
          </a:p>
          <a:p xmlns:a="http://schemas.openxmlformats.org/drawingml/2006/main">
            <a:r>
              <a:t/>
            </a:r>
          </a:p>
          <a:p xmlns:a="http://schemas.openxmlformats.org/drawingml/2006/main">
            <a:r>
              <a:t>Sources: PROJECT_SUMMARY.md sections 1, 4, 7 and 8; README.md. Project records reviewed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41d991181c4c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119b77570a43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f621037bcb141f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6959459ad649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fdfd3762e649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3c1080f0abb4e2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718223365734f1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c91c435af3a4a5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8b426b86f5944c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671fff244d44db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f8899e8e705467e"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F3F402-29DA-397B-6E58-41B761CB7946}"/>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AC005959-859C-9FF4-7DA1-EFBCD45BB326}"/>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8F5F5159-A0B9-48B7-B24B-0C5CDF5AB3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ED97D482-5E9D-56CD-E97C-2EFC9AA7417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A2AA2CA-913F-B967-9981-52C167C38C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B85FCE-485A-E498-5634-784AC83DCD1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E53ADFE-FF7E-348C-E6DC-65C560EB926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89AEF3F-F775-A1C5-D8F0-7676B92E29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1044DAD8-0B42-9A76-293D-D6521F81D8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32EE94F-42A2-9FDC-D629-37110730BB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467C00-6B4D-FA6F-9FCB-D01CABC73E60}"/>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1EB16DC-0F3E-D3BC-67BC-FFAAEAF24BA2}"/>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559574E-06EE-EC26-FF41-9EBC8C1326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2D5C22B6-109B-75C1-7A47-AFFD46B4589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B2718DB-E9FF-9532-9F37-0223E83DB0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82CD079-1B10-C9E2-5948-F2F55D4FF12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CE2A073-0073-040A-8D3B-4476F1C7026C}"/>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D1D4E2B3-8DCD-BC92-30AE-E66768DCD15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7C87165D-20B7-C065-BCA2-259288569D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6" name="Footer Placeholder 5">
            <a:extLst xmlns:a="http://schemas.openxmlformats.org/drawingml/2006/main">
              <a:ext uri="{FF2B5EF4-FFF2-40B4-BE49-F238E27FC236}">
                <a16:creationId xmlns:a16="http://schemas.microsoft.com/office/drawing/2014/main" id="{C84F52A3-0694-3B49-C4BF-A3C50B82E0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DE9A3AA-4C02-AE67-E390-0D5374B3D8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09AC31-EAFB-F104-9F4E-7D1A3B8FB9CA}"/>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1DD5E4A-5469-B1D6-4881-DCD8D6912F01}"/>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5322485-984D-D971-FABB-763C6AFB2971}"/>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D4979988-FF9B-DF99-E51C-8B9332E8FE38}"/>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69059B1B-0B06-7D73-267E-21F3F9973AD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413C7DA4-2C10-B5B0-CCA8-99702A64E7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8" name="Footer Placeholder 7">
            <a:extLst xmlns:a="http://schemas.openxmlformats.org/drawingml/2006/main">
              <a:ext uri="{FF2B5EF4-FFF2-40B4-BE49-F238E27FC236}">
                <a16:creationId xmlns:a16="http://schemas.microsoft.com/office/drawing/2014/main" id="{320E799F-6B2C-5813-4694-892F5CBAFD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270C304-1F07-F2EA-9805-0272E419DA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A7C8011-C5B0-6205-9BA7-CB28ACB813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0D87BC55-4130-0601-E83C-808713200D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4" name="Footer Placeholder 3">
            <a:extLst xmlns:a="http://schemas.openxmlformats.org/drawingml/2006/main">
              <a:ext uri="{FF2B5EF4-FFF2-40B4-BE49-F238E27FC236}">
                <a16:creationId xmlns:a16="http://schemas.microsoft.com/office/drawing/2014/main" id="{312FCD70-8107-567D-2971-36C8133E9E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4113FF9-D39E-8E34-FDB0-B884E2430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908A447-04C1-FBF3-64C1-29C93BFBD1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3" name="Footer Placeholder 2">
            <a:extLst xmlns:a="http://schemas.openxmlformats.org/drawingml/2006/main">
              <a:ext uri="{FF2B5EF4-FFF2-40B4-BE49-F238E27FC236}">
                <a16:creationId xmlns:a16="http://schemas.microsoft.com/office/drawing/2014/main" id="{48D4E662-DAF8-3F1B-203E-3E8485EB6DE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A9DC3EC-A692-FC5F-F987-7A3703EF99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284A290-3141-FCC8-C47C-1CEA49DC884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1EAB294-AE4F-A352-EE1E-B4A7F245098A}"/>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2C0EC39-B4BD-1D5C-7CB2-0052321FEAC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BD12E2D-87CB-A4FF-0BB9-6BDDC1D8B8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6" name="Footer Placeholder 5">
            <a:extLst xmlns:a="http://schemas.openxmlformats.org/drawingml/2006/main">
              <a:ext uri="{FF2B5EF4-FFF2-40B4-BE49-F238E27FC236}">
                <a16:creationId xmlns:a16="http://schemas.microsoft.com/office/drawing/2014/main" id="{1FF5579E-94CA-4674-F098-A1D7093C4A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0841358-5ADF-6905-5FF1-6777A94C78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2D4035-9F27-EEBE-93DD-E096AB282E1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0EE7BA1C-DAAB-0DD8-DDD5-48883CB0318C}"/>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31778FC-BEBD-C938-BE03-51BC2617672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40B1503-BBA5-3AAC-9B8B-5F72A0D0AB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6" name="Footer Placeholder 5">
            <a:extLst xmlns:a="http://schemas.openxmlformats.org/drawingml/2006/main">
              <a:ext uri="{FF2B5EF4-FFF2-40B4-BE49-F238E27FC236}">
                <a16:creationId xmlns:a16="http://schemas.microsoft.com/office/drawing/2014/main" id="{883B0703-7FDF-2591-9BE3-F5FCE07D52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F1FD893-7364-1498-D708-828C853EF9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366E69-2ECA-BFFA-2B65-4BE0D666679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120EF8F-4CA0-62A5-DF36-FC0A2E469B3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F7EC369-6C42-BC32-3FAE-909D4F8997E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05B7EC10-06D3-8C8D-DE3D-41F51E4FC6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09745DB-EFD0-FFC4-E5EA-16344EDAC1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87AF2FF-BDAA-3AB7-C9A9-06093678372D}"/>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FF718A9-6D3D-D1B1-A405-232B4BE8C09A}"/>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B5AFF1A-5F59-A93F-A14C-80BE15F37B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529D35D8-5DBD-3E03-E320-7F90F67B57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9C25B09-DE83-F09C-5439-ECB2093077C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6b0736fad144c3" /><Relationship Type="http://schemas.openxmlformats.org/officeDocument/2006/relationships/slideLayout" Target="/ppt/slideLayouts/slideLayout1.xml" Id="Rf6eef9557b7943a0" /><Relationship Type="http://schemas.openxmlformats.org/officeDocument/2006/relationships/slideLayout" Target="/ppt/slideLayouts/slideLayout2.xml" Id="Rbf79f25ffd9e4227" /><Relationship Type="http://schemas.openxmlformats.org/officeDocument/2006/relationships/slideLayout" Target="/ppt/slideLayouts/slideLayout3.xml" Id="R5e62ddfd33fd460a" /><Relationship Type="http://schemas.openxmlformats.org/officeDocument/2006/relationships/slideLayout" Target="/ppt/slideLayouts/slideLayout4.xml" Id="Rcec9a7abf0924791" /><Relationship Type="http://schemas.openxmlformats.org/officeDocument/2006/relationships/slideLayout" Target="/ppt/slideLayouts/slideLayout5.xml" Id="Rcc22abae1fe0489b" /><Relationship Type="http://schemas.openxmlformats.org/officeDocument/2006/relationships/slideLayout" Target="/ppt/slideLayouts/slideLayout6.xml" Id="R207d4ed40e9a4efe" /><Relationship Type="http://schemas.openxmlformats.org/officeDocument/2006/relationships/slideLayout" Target="/ppt/slideLayouts/slideLayout7.xml" Id="Rd69a152372be4bcd" /><Relationship Type="http://schemas.openxmlformats.org/officeDocument/2006/relationships/slideLayout" Target="/ppt/slideLayouts/slideLayout8.xml" Id="R2eca43901eb84280" /><Relationship Type="http://schemas.openxmlformats.org/officeDocument/2006/relationships/slideLayout" Target="/ppt/slideLayouts/slideLayout9.xml" Id="R86f5802f8ed5495d" /><Relationship Type="http://schemas.openxmlformats.org/officeDocument/2006/relationships/slideLayout" Target="/ppt/slideLayouts/slideLayout10.xml" Id="R839f4f8979664887" /><Relationship Type="http://schemas.openxmlformats.org/officeDocument/2006/relationships/slideLayout" Target="/ppt/slideLayouts/slideLayout11.xml" Id="Rfa339dee92d8470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DF3EE29-B37D-A192-C866-D6B22998B80A}"/>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D36BDB1-A5B2-569B-716D-889309ED34A4}"/>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20203BA-4856-4230-C56B-9D0B57A2CAF4}"/>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2AF63C06-D6C4-650C-767C-4FAF55892C8A}"/>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C3BDEA3-C19B-B26E-450A-D4E98A2962A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ABDAE67D-547A-4DF3-8AEA-E67819B1E91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eef9557b7943a0"/>
    <p:sldLayoutId xmlns:r="http://schemas.openxmlformats.org/officeDocument/2006/relationships" id="2147483650" r:id="Rbf79f25ffd9e4227"/>
    <p:sldLayoutId xmlns:r="http://schemas.openxmlformats.org/officeDocument/2006/relationships" id="2147483651" r:id="R5e62ddfd33fd460a"/>
    <p:sldLayoutId xmlns:r="http://schemas.openxmlformats.org/officeDocument/2006/relationships" id="2147483652" r:id="Rcec9a7abf0924791"/>
    <p:sldLayoutId xmlns:r="http://schemas.openxmlformats.org/officeDocument/2006/relationships" id="2147483653" r:id="Rcc22abae1fe0489b"/>
    <p:sldLayoutId xmlns:r="http://schemas.openxmlformats.org/officeDocument/2006/relationships" id="2147483654" r:id="R207d4ed40e9a4efe"/>
    <p:sldLayoutId xmlns:r="http://schemas.openxmlformats.org/officeDocument/2006/relationships" id="2147483655" r:id="Rd69a152372be4bcd"/>
    <p:sldLayoutId xmlns:r="http://schemas.openxmlformats.org/officeDocument/2006/relationships" id="2147483656" r:id="R2eca43901eb84280"/>
    <p:sldLayoutId xmlns:r="http://schemas.openxmlformats.org/officeDocument/2006/relationships" id="2147483657" r:id="R86f5802f8ed5495d"/>
    <p:sldLayoutId xmlns:r="http://schemas.openxmlformats.org/officeDocument/2006/relationships" id="2147483658" r:id="R839f4f8979664887"/>
    <p:sldLayoutId xmlns:r="http://schemas.openxmlformats.org/officeDocument/2006/relationships" id="2147483659" r:id="Rfa339dee92d84708"/>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1c2a4c02c544d1d" /><Relationship Type="http://schemas.openxmlformats.org/officeDocument/2006/relationships/image" Target="/ppt/media/image.png" Id="Rc4c5756e2a224678" /><Relationship Type="http://schemas.openxmlformats.org/officeDocument/2006/relationships/notesSlide" Target="/ppt/notesSlides/notesSlide1.xml" Id="R58d800b551034b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e7a724e25844b2" /><Relationship Type="http://schemas.openxmlformats.org/officeDocument/2006/relationships/image" Target="/ppt/media/image2.png" Id="Rb1ac6ec1bf0949d2" /><Relationship Type="http://schemas.openxmlformats.org/officeDocument/2006/relationships/image" Target="/ppt/media/image3.png" Id="Rda4acf8cda7e44f0" /><Relationship Type="http://schemas.openxmlformats.org/officeDocument/2006/relationships/image" Target="/ppt/media/image4.png" Id="R01c8498e196b4003" /><Relationship Type="http://schemas.openxmlformats.org/officeDocument/2006/relationships/notesSlide" Target="/ppt/notesSlides/notesSlide2.xml" Id="R5d2f9367104249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2c81253e284ac8" /><Relationship Type="http://schemas.openxmlformats.org/officeDocument/2006/relationships/image" Target="/ppt/media/image5.png" Id="Rdf83876c7c024541" /><Relationship Type="http://schemas.openxmlformats.org/officeDocument/2006/relationships/image" Target="/ppt/media/image6.png" Id="R90227adbeaa048eb" /><Relationship Type="http://schemas.openxmlformats.org/officeDocument/2006/relationships/notesSlide" Target="/ppt/notesSlides/notesSlide3.xml" Id="R76708008264b41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068b3ad43f400c" /><Relationship Type="http://schemas.openxmlformats.org/officeDocument/2006/relationships/image" Target="/ppt/media/image7.png" Id="Rb3932c545a6c4b52" /><Relationship Type="http://schemas.openxmlformats.org/officeDocument/2006/relationships/image" Target="/ppt/media/image8.png" Id="R0227fd3aef0f478d" /><Relationship Type="http://schemas.openxmlformats.org/officeDocument/2006/relationships/image" Target="/ppt/media/image9.png" Id="R413b762dea98461b" /><Relationship Type="http://schemas.openxmlformats.org/officeDocument/2006/relationships/notesSlide" Target="/ppt/notesSlides/notesSlide4.xml" Id="Rce324b470e7042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871cf5a08d4ec3" /><Relationship Type="http://schemas.openxmlformats.org/officeDocument/2006/relationships/image" Target="/ppt/media/image10.png" Id="Rc034c538becc434b" /><Relationship Type="http://schemas.openxmlformats.org/officeDocument/2006/relationships/image" Target="/ppt/media/image11.png" Id="R31c1864709124c58" /><Relationship Type="http://schemas.openxmlformats.org/officeDocument/2006/relationships/notesSlide" Target="/ppt/notesSlides/notesSlide5.xml" Id="Rcb1f15cbb21649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a51b1885914170" /><Relationship Type="http://schemas.openxmlformats.org/officeDocument/2006/relationships/image" Target="/ppt/media/image12.png" Id="R2f23ab26867d48ae" /><Relationship Type="http://schemas.openxmlformats.org/officeDocument/2006/relationships/image" Target="/ppt/media/image13.png" Id="Rfd932f91b6564931" /><Relationship Type="http://schemas.openxmlformats.org/officeDocument/2006/relationships/notesSlide" Target="/ppt/notesSlides/notesSlide6.xml" Id="Rc331d8d3e1f14e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06d588defa4319" /><Relationship Type="http://schemas.openxmlformats.org/officeDocument/2006/relationships/image" Target="/ppt/media/image14.png" Id="R555c7e2bace04fbe" /><Relationship Type="http://schemas.openxmlformats.org/officeDocument/2006/relationships/image" Target="/ppt/media/image15.png" Id="R20a290731f9f4fd5" /><Relationship Type="http://schemas.openxmlformats.org/officeDocument/2006/relationships/image" Target="/ppt/media/image16.png" Id="R8937d0552b1d4065" /><Relationship Type="http://schemas.openxmlformats.org/officeDocument/2006/relationships/notesSlide" Target="/ppt/notesSlides/notesSlide7.xml" Id="Rdbedb1c46e994d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c4ef4757f64a86" /><Relationship Type="http://schemas.openxmlformats.org/officeDocument/2006/relationships/image" Target="/ppt/media/image17.png" Id="R429c1cd9a7804120" /><Relationship Type="http://schemas.openxmlformats.org/officeDocument/2006/relationships/image" Target="/ppt/media/image18.png" Id="Rcdfc2bed42334d58" /><Relationship Type="http://schemas.openxmlformats.org/officeDocument/2006/relationships/notesSlide" Target="/ppt/notesSlides/notesSlide8.xml" Id="R53eba0169e654a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bdf2d3da2f48ea" /><Relationship Type="http://schemas.openxmlformats.org/officeDocument/2006/relationships/image" Target="/ppt/media/image19.png" Id="Rb988f27653a1461d" /><Relationship Type="http://schemas.openxmlformats.org/officeDocument/2006/relationships/image" Target="/ppt/media/image20.png" Id="R8114164c52524cc3" /><Relationship Type="http://schemas.openxmlformats.org/officeDocument/2006/relationships/notesSlide" Target="/ppt/notesSlides/notesSlide9.xml" Id="Re79cc61b249144a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52B6F7-0D4F-5AD7-ED24-73548A107147}"/>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6FC3E3D0-13A4-D58D-F89F-C27DD182A89C}"/>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E74822C8-21E5-4DEA-8378-D54FAA4F8458}"/>
              </a:ext>
            </a:extLst>
          </p:cNvPr>
          <p:cNvPicPr>
            <a:picLocks xmlns:a="http://schemas.openxmlformats.org/drawingml/2006/main" noChangeAspect="1"/>
          </p:cNvPicPr>
          <p:nvPr/>
        </p:nvPicPr>
        <p:blipFill>
          <a:blip xmlns:r="http://schemas.openxmlformats.org/officeDocument/2006/relationships" xmlns:a="http://schemas.openxmlformats.org/drawingml/2006/main" r:embed="Rc4c5756e2a22467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597347F1-28F4-CA71-7AD5-C85684D7431E}"/>
              </a:ext>
            </a:extLst>
          </p:cNvPr>
          <p:cNvSpPr>
            <a:spLocks xmlns:a="http://schemas.openxmlformats.org/drawingml/2006/main" noGrp="1"/>
          </p:cNvSpPr>
          <p:nvPr/>
        </p:nvSpPr>
        <p:spPr>
          <a:xfrm xmlns:a="http://schemas.openxmlformats.org/drawingml/2006/main">
            <a:off x="2595753" y="2955703"/>
            <a:ext cx="7256240"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ctr">
              <a:defRPr sz="3600" b="1">
                <a:solidFill>
                  <a:srgbClr val="FFFFFF"/>
                </a:solidFill>
                <a:latin typeface="Arial"/>
                <a:ea typeface="Arial"/>
                <a:cs typeface="Arial"/>
              </a:defRPr>
            </a:defPPr>
          </a:lstStyle>
          <a:p xmlns:a="http://schemas.openxmlformats.org/drawingml/2006/main">
            <a:pPr algn="ctr">
              <a:buNone/>
              <a:defRPr sz="3600" b="1">
                <a:solidFill>
                  <a:srgbClr val="FFFFFF"/>
                </a:solidFill>
                <a:latin typeface="Arial"/>
                <a:ea typeface="Arial"/>
                <a:cs typeface="Arial"/>
              </a:defRPr>
            </a:pPr>
            <a:r>
              <a:rPr sz="3600" b="1">
                <a:solidFill>
                  <a:srgbClr val="FFFFFF"/>
                </a:solidFill>
                <a:latin typeface="Arial"/>
                <a:ea typeface="Arial"/>
                <a:cs typeface="Arial"/>
              </a:rPr>
              <a:t>Team Codio</a:t>
            </a:r>
          </a:p>
        </p:txBody>
      </p:sp>
      <p:sp>
        <p:nvSpPr>
          <p:cNvPr id="7" name="Project name">
            <a:extLst xmlns:a="http://schemas.openxmlformats.org/drawingml/2006/main">
              <a:ext uri="{FF2B5EF4-FFF2-40B4-BE49-F238E27FC236}">
                <a16:creationId xmlns:a16="http://schemas.microsoft.com/office/drawing/2014/main" id="{989555B0-FFFC-422C-A949-DD7464246A4B}"/>
              </a:ext>
            </a:extLst>
          </p:cNvPr>
          <p:cNvSpPr>
            <a:spLocks xmlns:a="http://schemas.openxmlformats.org/drawingml/2006/main" noGrp="1"/>
          </p:cNvSpPr>
          <p:nvPr/>
        </p:nvSpPr>
        <p:spPr>
          <a:xfrm xmlns:a="http://schemas.openxmlformats.org/drawingml/2006/main">
            <a:off x="2476500" y="1666875"/>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6600" b="1">
                <a:solidFill>
                  <a:srgbClr val="FFFFFF"/>
                </a:solidFill>
                <a:latin typeface="Arial"/>
                <a:ea typeface="Arial"/>
                <a:cs typeface="Arial"/>
              </a:defRPr>
            </a:defPPr>
          </a:lstStyle>
          <a:p xmlns:a="http://schemas.openxmlformats.org/drawingml/2006/main">
            <a:pPr algn="ctr">
              <a:buNone/>
              <a:defRPr sz="6600" b="1">
                <a:solidFill>
                  <a:srgbClr val="FFFFFF"/>
                </a:solidFill>
                <a:latin typeface="Arial"/>
                <a:ea typeface="Arial"/>
                <a:cs typeface="Arial"/>
              </a:defRPr>
            </a:pPr>
            <a:r>
              <a:rPr sz="6600" b="1">
                <a:solidFill>
                  <a:srgbClr val="FFFFFF"/>
                </a:solidFill>
                <a:latin typeface="Arial"/>
                <a:ea typeface="Arial"/>
                <a:cs typeface="Arial"/>
              </a:rPr>
              <a:t>Kettoo</a:t>
            </a:r>
          </a:p>
        </p:txBody>
      </p:sp>
      <p:sp>
        <p:nvSpPr>
          <p:cNvPr id="8" name="Project description">
            <a:extLst xmlns:a="http://schemas.openxmlformats.org/drawingml/2006/main">
              <a:ext uri="{FF2B5EF4-FFF2-40B4-BE49-F238E27FC236}">
                <a16:creationId xmlns:a16="http://schemas.microsoft.com/office/drawing/2014/main" id="{F35B1182-F060-44C6-9C37-6D19E692A233}"/>
              </a:ext>
            </a:extLst>
          </p:cNvPr>
          <p:cNvSpPr>
            <a:spLocks xmlns:a="http://schemas.openxmlformats.org/drawingml/2006/main" noGrp="1"/>
          </p:cNvSpPr>
          <p:nvPr/>
        </p:nvSpPr>
        <p:spPr>
          <a:xfrm xmlns:a="http://schemas.openxmlformats.org/drawingml/2006/main">
            <a:off x="2286000" y="4543425"/>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0">
                <a:solidFill>
                  <a:srgbClr val="FFFFFF"/>
                </a:solidFill>
                <a:latin typeface="Arial"/>
                <a:ea typeface="Arial"/>
                <a:cs typeface="Arial"/>
              </a:defRPr>
            </a:defPPr>
          </a:lstStyle>
          <a:p xmlns:a="http://schemas.openxmlformats.org/drawingml/2006/main">
            <a:pPr algn="ctr">
              <a:buNone/>
              <a:defRPr sz="1950" b="0">
                <a:solidFill>
                  <a:srgbClr val="FFFFFF"/>
                </a:solidFill>
                <a:latin typeface="Arial"/>
                <a:ea typeface="Arial"/>
                <a:cs typeface="Arial"/>
              </a:defRPr>
            </a:pPr>
            <a:r>
              <a:rPr sz="1950" b="0">
                <a:solidFill>
                  <a:srgbClr val="FFFFFF"/>
                </a:solidFill>
                <a:latin typeface="Arial"/>
                <a:ea typeface="Arial"/>
                <a:cs typeface="Arial"/>
              </a:rPr>
              <a:t>Private communication and coordination for event teams</a:t>
            </a:r>
          </a:p>
        </p:txBody>
      </p:sp>
    </p:spTree>
    <p:extLst>
      <p:ext uri="{BB962C8B-B14F-4D97-AF65-F5344CB8AC3E}">
        <p14:creationId xmlns:p14="http://schemas.microsoft.com/office/powerpoint/2010/main" val="155523080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E4C1609-E95C-B768-765B-49443B85F366}"/>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3BF51289-A3E7-01DF-1DCF-273B61B51793}"/>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ED1001DF-612C-45DD-904C-F63F00B88C56}"/>
              </a:ext>
            </a:extLst>
          </p:cNvPr>
          <p:cNvPicPr>
            <a:picLocks xmlns:a="http://schemas.openxmlformats.org/drawingml/2006/main" noChangeAspect="1"/>
          </p:cNvPicPr>
          <p:nvPr/>
        </p:nvPicPr>
        <p:blipFill>
          <a:blip xmlns:r="http://schemas.openxmlformats.org/officeDocument/2006/relationships" xmlns:a="http://schemas.openxmlformats.org/drawingml/2006/main" r:embed="Rb1ac6ec1bf0949d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AF1838B0-60BE-4673-9C77-A3818E2A7074}"/>
              </a:ext>
            </a:extLst>
          </p:cNvPr>
          <p:cNvPicPr>
            <a:picLocks xmlns:a="http://schemas.openxmlformats.org/drawingml/2006/main" noChangeAspect="1"/>
          </p:cNvPicPr>
          <p:nvPr/>
        </p:nvPicPr>
        <p:blipFill>
          <a:blip xmlns:r="http://schemas.openxmlformats.org/officeDocument/2006/relationships" xmlns:a="http://schemas.openxmlformats.org/drawingml/2006/main" r:embed="Rda4acf8cda7e44f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D5778E16-AB36-B327-231C-23621FEBF5DE}"/>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Introduction</a:t>
            </a:r>
          </a:p>
        </p:txBody>
      </p:sp>
      <p:sp>
        <p:nvSpPr>
          <p:cNvPr id="9" name="Introduction headline">
            <a:extLst xmlns:a="http://schemas.openxmlformats.org/drawingml/2006/main">
              <a:ext uri="{FF2B5EF4-FFF2-40B4-BE49-F238E27FC236}">
                <a16:creationId xmlns:a16="http://schemas.microsoft.com/office/drawing/2014/main" id="{CCCE33E5-4330-4AC9-9634-565164065DB5}"/>
              </a:ext>
            </a:extLst>
          </p:cNvPr>
          <p:cNvSpPr>
            <a:spLocks xmlns:a="http://schemas.openxmlformats.org/drawingml/2006/main" noGrp="1"/>
          </p:cNvSpPr>
          <p:nvPr/>
        </p:nvSpPr>
        <p:spPr>
          <a:xfrm xmlns:a="http://schemas.openxmlformats.org/drawingml/2006/main">
            <a:off x="685800" y="1257300"/>
            <a:ext cx="752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50" b="1">
                <a:solidFill>
                  <a:srgbClr val="262626"/>
                </a:solidFill>
                <a:latin typeface="Arial"/>
                <a:ea typeface="Arial"/>
                <a:cs typeface="Arial"/>
              </a:defRPr>
            </a:defPPr>
          </a:lstStyle>
          <a:p xmlns:a="http://schemas.openxmlformats.org/drawingml/2006/main">
            <a:pPr algn="l">
              <a:buNone/>
              <a:defRPr sz="3150" b="1">
                <a:solidFill>
                  <a:srgbClr val="262626"/>
                </a:solidFill>
                <a:latin typeface="Arial"/>
                <a:ea typeface="Arial"/>
                <a:cs typeface="Arial"/>
              </a:defRPr>
            </a:pPr>
            <a:r>
              <a:rPr sz="3150" b="1">
                <a:solidFill>
                  <a:srgbClr val="262626"/>
                </a:solidFill>
                <a:latin typeface="Arial"/>
                <a:ea typeface="Arial"/>
                <a:cs typeface="Arial"/>
              </a:rPr>
              <a:t>A private communicator</a:t>
            </a:r>
          </a:p>
          <a:p xmlns:a="http://schemas.openxmlformats.org/drawingml/2006/main">
            <a:pPr algn="l">
              <a:buNone/>
              <a:defRPr sz="3150" b="1">
                <a:solidFill>
                  <a:srgbClr val="262626"/>
                </a:solidFill>
                <a:latin typeface="Arial"/>
                <a:ea typeface="Arial"/>
                <a:cs typeface="Arial"/>
              </a:defRPr>
            </a:pPr>
            <a:r>
              <a:rPr sz="3150" b="1">
                <a:solidFill>
                  <a:srgbClr val="262626"/>
                </a:solidFill>
                <a:latin typeface="Arial"/>
                <a:ea typeface="Arial"/>
                <a:cs typeface="Arial"/>
              </a:rPr>
              <a:t>on staff members’ phones</a:t>
            </a:r>
          </a:p>
        </p:txBody>
      </p:sp>
      <p:sp>
        <p:nvSpPr>
          <p:cNvPr id="10" name="Event context">
            <a:extLst xmlns:a="http://schemas.openxmlformats.org/drawingml/2006/main">
              <a:ext uri="{FF2B5EF4-FFF2-40B4-BE49-F238E27FC236}">
                <a16:creationId xmlns:a16="http://schemas.microsoft.com/office/drawing/2014/main" id="{690891A6-980B-4140-AF17-08C2D08CC865}"/>
              </a:ext>
            </a:extLst>
          </p:cNvPr>
          <p:cNvSpPr>
            <a:spLocks xmlns:a="http://schemas.openxmlformats.org/drawingml/2006/main" noGrp="1"/>
          </p:cNvSpPr>
          <p:nvPr/>
        </p:nvSpPr>
        <p:spPr>
          <a:xfrm xmlns:a="http://schemas.openxmlformats.org/drawingml/2006/main">
            <a:off x="685800" y="2533650"/>
            <a:ext cx="733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262626"/>
                </a:solidFill>
                <a:latin typeface="Arial"/>
                <a:ea typeface="Arial"/>
                <a:cs typeface="Arial"/>
              </a:defRPr>
            </a:defPPr>
          </a:lstStyle>
          <a:p xmlns:a="http://schemas.openxmlformats.org/drawingml/2006/main">
            <a:pPr algn="l">
              <a:buNone/>
              <a:defRPr sz="2025" b="0">
                <a:solidFill>
                  <a:srgbClr val="262626"/>
                </a:solidFill>
                <a:latin typeface="Arial"/>
                <a:ea typeface="Arial"/>
                <a:cs typeface="Arial"/>
              </a:defRPr>
            </a:pPr>
            <a:r>
              <a:rPr sz="2025" b="0">
                <a:solidFill>
                  <a:srgbClr val="262626"/>
                </a:solidFill>
                <a:latin typeface="Arial"/>
                <a:ea typeface="Arial"/>
                <a:cs typeface="Arial"/>
              </a:rPr>
              <a:t>Teams in conferences, hackathons, malls and hospitals need quick coordination. Staff phones can bring text and media sharing alongside walkie-talkie voice.</a:t>
            </a:r>
          </a:p>
        </p:txBody>
      </p:sp>
      <p:sp>
        <p:nvSpPr>
          <p:cNvPr id="11" name="Project introduction">
            <a:extLst xmlns:a="http://schemas.openxmlformats.org/drawingml/2006/main">
              <a:ext uri="{FF2B5EF4-FFF2-40B4-BE49-F238E27FC236}">
                <a16:creationId xmlns:a16="http://schemas.microsoft.com/office/drawing/2014/main" id="{0693A9C9-3B3C-45B5-BC79-AB381E89A3DE}"/>
              </a:ext>
            </a:extLst>
          </p:cNvPr>
          <p:cNvSpPr>
            <a:spLocks xmlns:a="http://schemas.openxmlformats.org/drawingml/2006/main" noGrp="1"/>
          </p:cNvSpPr>
          <p:nvPr/>
        </p:nvSpPr>
        <p:spPr>
          <a:xfrm xmlns:a="http://schemas.openxmlformats.org/drawingml/2006/main">
            <a:off x="685800" y="3800475"/>
            <a:ext cx="7334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262626"/>
                </a:solidFill>
                <a:latin typeface="Arial"/>
                <a:ea typeface="Arial"/>
                <a:cs typeface="Arial"/>
              </a:defRPr>
            </a:defPPr>
          </a:lstStyle>
          <a:p xmlns:a="http://schemas.openxmlformats.org/drawingml/2006/main">
            <a:pPr algn="l">
              <a:buNone/>
              <a:defRPr sz="2025" b="0">
                <a:solidFill>
                  <a:srgbClr val="262626"/>
                </a:solidFill>
                <a:latin typeface="Arial"/>
                <a:ea typeface="Arial"/>
                <a:cs typeface="Arial"/>
              </a:defRPr>
            </a:pPr>
            <a:r>
              <a:rPr sz="2025" b="0">
                <a:solidFill>
                  <a:srgbClr val="262626"/>
                </a:solidFill>
                <a:latin typeface="Arial"/>
                <a:ea typeface="Arial"/>
                <a:cs typeface="Arial"/>
              </a:rPr>
              <a:t>Kettoo combines push-to-talk, chat, photo/video sharing and private calls in an Android app and browser console. Admins approve access, manage channels and broadcast to everyone.</a:t>
            </a:r>
          </a:p>
        </p:txBody>
      </p:sp>
      <p:sp>
        <p:nvSpPr>
          <p:cNvPr id="12" name="Continuity during outages">
            <a:extLst xmlns:a="http://schemas.openxmlformats.org/drawingml/2006/main">
              <a:ext uri="{FF2B5EF4-FFF2-40B4-BE49-F238E27FC236}">
                <a16:creationId xmlns:a16="http://schemas.microsoft.com/office/drawing/2014/main" id="{ECD30F4F-EAD4-4AF8-A955-14FC69F8141B}"/>
              </a:ext>
            </a:extLst>
          </p:cNvPr>
          <p:cNvSpPr>
            <a:spLocks xmlns:a="http://schemas.openxmlformats.org/drawingml/2006/main" noGrp="1"/>
          </p:cNvSpPr>
          <p:nvPr/>
        </p:nvSpPr>
        <p:spPr>
          <a:xfrm xmlns:a="http://schemas.openxmlformats.org/drawingml/2006/main">
            <a:off x="685800" y="5372100"/>
            <a:ext cx="733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55555"/>
                </a:solidFill>
                <a:latin typeface="Arial"/>
                <a:ea typeface="Arial"/>
                <a:cs typeface="Arial"/>
              </a:defRPr>
            </a:defPPr>
          </a:lstStyle>
          <a:p xmlns:a="http://schemas.openxmlformats.org/drawingml/2006/main">
            <a:pPr algn="l">
              <a:buNone/>
              <a:defRPr sz="1800" b="0">
                <a:solidFill>
                  <a:srgbClr val="555555"/>
                </a:solidFill>
                <a:latin typeface="Arial"/>
                <a:ea typeface="Arial"/>
                <a:cs typeface="Arial"/>
              </a:defRPr>
            </a:pPr>
            <a:r>
              <a:rPr sz="1800" b="0">
                <a:solidFill>
                  <a:srgbClr val="555555"/>
                </a:solidFill>
                <a:latin typeface="Arial"/>
                <a:ea typeface="Arial"/>
                <a:cs typeface="Arial"/>
              </a:rPr>
              <a:t>The organisation hosts its server, media and history. Local queues and direct Android Nearby links support outage recovery.</a:t>
            </a:r>
          </a:p>
        </p:txBody>
      </p:sp>
      <p:pic>
        <p:nvPicPr>
          <p:cNvPr id="13" name="">
            <a:extLst xmlns:a="http://schemas.openxmlformats.org/drawingml/2006/main">
              <a:ext uri="{FF2B5EF4-FFF2-40B4-BE49-F238E27FC236}">
                <a16:creationId xmlns:a16="http://schemas.microsoft.com/office/drawing/2014/main" id="{CDC0C29A-530C-4E6E-A828-B4B712A83106}"/>
              </a:ext>
            </a:extLst>
          </p:cNvPr>
          <p:cNvPicPr>
            <a:picLocks xmlns:a="http://schemas.openxmlformats.org/drawingml/2006/main" noChangeAspect="1"/>
          </p:cNvPicPr>
          <p:nvPr/>
        </p:nvPicPr>
        <p:blipFill>
          <a:blip xmlns:r="http://schemas.openxmlformats.org/officeDocument/2006/relationships" xmlns:a="http://schemas.openxmlformats.org/drawingml/2006/main" r:embed="R01c8498e196b4003"/>
          <a:srcRect xmlns:a="http://schemas.openxmlformats.org/drawingml/2006/main" l="0" t="0" r="0" b="0"/>
          <a:stretch xmlns:a="http://schemas.openxmlformats.org/drawingml/2006/main">
            <a:fillRect l="0" t="0" r="0" b="0"/>
          </a:stretch>
        </p:blipFill>
        <p:spPr>
          <a:xfrm xmlns:a="http://schemas.openxmlformats.org/drawingml/2006/main">
            <a:off x="8915542" y="1152525"/>
            <a:ext cx="2247616" cy="5019675"/>
          </a:xfrm>
          <a:prstGeom xmlns:a="http://schemas.openxmlformats.org/drawingml/2006/main" prst="rect">
            <a:avLst/>
          </a:prstGeom>
        </p:spPr>
      </p:pic>
      <p:sp>
        <p:nvSpPr>
          <p:cNvPr id="14" name="Screenshot caption">
            <a:extLst xmlns:a="http://schemas.openxmlformats.org/drawingml/2006/main">
              <a:ext uri="{FF2B5EF4-FFF2-40B4-BE49-F238E27FC236}">
                <a16:creationId xmlns:a16="http://schemas.microsoft.com/office/drawing/2014/main" id="{DF0A628B-AB63-486F-88BC-47053C1AD759}"/>
              </a:ext>
            </a:extLst>
          </p:cNvPr>
          <p:cNvSpPr>
            <a:spLocks xmlns:a="http://schemas.openxmlformats.org/drawingml/2006/main" noGrp="1"/>
          </p:cNvSpPr>
          <p:nvPr/>
        </p:nvSpPr>
        <p:spPr>
          <a:xfrm xmlns:a="http://schemas.openxmlformats.org/drawingml/2006/main">
            <a:off x="8915400" y="6267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66666"/>
                </a:solidFill>
                <a:latin typeface="Arial"/>
                <a:ea typeface="Arial"/>
                <a:cs typeface="Arial"/>
              </a:defRPr>
            </a:defPPr>
          </a:lstStyle>
          <a:p xmlns:a="http://schemas.openxmlformats.org/drawingml/2006/main">
            <a:pPr algn="l">
              <a:buNone/>
              <a:defRPr sz="1500" b="0">
                <a:solidFill>
                  <a:srgbClr val="666666"/>
                </a:solidFill>
                <a:latin typeface="Arial"/>
                <a:ea typeface="Arial"/>
                <a:cs typeface="Arial"/>
              </a:defRPr>
            </a:pPr>
            <a:r>
              <a:rPr sz="1500" b="0">
                <a:solidFill>
                  <a:srgbClr val="666666"/>
                </a:solidFill>
                <a:latin typeface="Arial"/>
                <a:ea typeface="Arial"/>
                <a:cs typeface="Arial"/>
              </a:rPr>
              <a:t>Kettoo Android app</a:t>
            </a:r>
          </a:p>
        </p:txBody>
      </p:sp>
    </p:spTree>
    <p:extLst>
      <p:ext uri="{BB962C8B-B14F-4D97-AF65-F5344CB8AC3E}">
        <p14:creationId xmlns:p14="http://schemas.microsoft.com/office/powerpoint/2010/main" val="11871967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CAE5ED-0FE5-F1F9-21B0-5D1D40127A1C}"/>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F1E34A61-8301-BDD1-6695-EFF8B575F30C}"/>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7406C4C7-B5AA-4200-90A3-54472356B199}"/>
              </a:ext>
            </a:extLst>
          </p:cNvPr>
          <p:cNvPicPr>
            <a:picLocks xmlns:a="http://schemas.openxmlformats.org/drawingml/2006/main" noChangeAspect="1"/>
          </p:cNvPicPr>
          <p:nvPr/>
        </p:nvPicPr>
        <p:blipFill>
          <a:blip xmlns:r="http://schemas.openxmlformats.org/officeDocument/2006/relationships" xmlns:a="http://schemas.openxmlformats.org/drawingml/2006/main" r:embed="Rdf83876c7c02454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03DEB796-E6A4-48E7-975F-A1932A87CB75}"/>
              </a:ext>
            </a:extLst>
          </p:cNvPr>
          <p:cNvPicPr>
            <a:picLocks xmlns:a="http://schemas.openxmlformats.org/drawingml/2006/main" noChangeAspect="1"/>
          </p:cNvPicPr>
          <p:nvPr/>
        </p:nvPicPr>
        <p:blipFill>
          <a:blip xmlns:r="http://schemas.openxmlformats.org/officeDocument/2006/relationships" xmlns:a="http://schemas.openxmlformats.org/drawingml/2006/main" r:embed="R90227adbeaa048e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3680F1E4-89DE-A828-3167-54A44B825891}"/>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Problem Statement</a:t>
            </a:r>
          </a:p>
        </p:txBody>
      </p:sp>
      <p:sp>
        <p:nvSpPr>
          <p:cNvPr id="9" name="Content headline">
            <a:extLst xmlns:a="http://schemas.openxmlformats.org/drawingml/2006/main">
              <a:ext uri="{FF2B5EF4-FFF2-40B4-BE49-F238E27FC236}">
                <a16:creationId xmlns:a16="http://schemas.microsoft.com/office/drawing/2014/main" id="{57F3776D-4FE6-4BF0-A7C2-AB9554032EE9}"/>
              </a:ext>
            </a:extLst>
          </p:cNvPr>
          <p:cNvSpPr>
            <a:spLocks xmlns:a="http://schemas.openxmlformats.org/drawingml/2006/main" noGrp="1"/>
          </p:cNvSpPr>
          <p:nvPr/>
        </p:nvSpPr>
        <p:spPr>
          <a:xfrm xmlns:a="http://schemas.openxmlformats.org/drawingml/2006/main">
            <a:off x="685800" y="121920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buNone/>
              <a:defRPr sz="3000" b="1">
                <a:solidFill>
                  <a:srgbClr val="262626"/>
                </a:solidFill>
                <a:latin typeface="Arial"/>
                <a:ea typeface="Arial"/>
                <a:cs typeface="Arial"/>
              </a:defRPr>
            </a:pPr>
            <a:r>
              <a:rPr sz="3000" b="1">
                <a:solidFill>
                  <a:srgbClr val="262626"/>
                </a:solidFill>
                <a:latin typeface="Arial"/>
                <a:ea typeface="Arial"/>
                <a:cs typeface="Arial"/>
              </a:rPr>
              <a:t/>
            </a:r>
          </a:p>
        </p:txBody>
      </p:sp>
      <p:sp>
        <p:nvSpPr>
          <p:cNvPr id="10" name="Operating scenario">
            <a:extLst xmlns:a="http://schemas.openxmlformats.org/drawingml/2006/main">
              <a:ext uri="{FF2B5EF4-FFF2-40B4-BE49-F238E27FC236}">
                <a16:creationId xmlns:a16="http://schemas.microsoft.com/office/drawing/2014/main" id="{3397DF20-30A1-42B0-BAD5-9D50FE92221D}"/>
              </a:ext>
            </a:extLst>
          </p:cNvPr>
          <p:cNvSpPr>
            <a:spLocks xmlns:a="http://schemas.openxmlformats.org/drawingml/2006/main" noGrp="1"/>
          </p:cNvSpPr>
          <p:nvPr/>
        </p:nvSpPr>
        <p:spPr>
          <a:xfrm xmlns:a="http://schemas.openxmlformats.org/drawingml/2006/main">
            <a:off x="685800" y="25050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262626"/>
                </a:solidFill>
                <a:latin typeface="Arial"/>
                <a:ea typeface="Arial"/>
                <a:cs typeface="Arial"/>
              </a:defRPr>
            </a:defPPr>
          </a:lstStyle>
          <a:p xmlns:a="http://schemas.openxmlformats.org/drawingml/2006/main">
            <a:pPr algn="l">
              <a:buNone/>
              <a:defRPr sz="2100" b="0">
                <a:solidFill>
                  <a:srgbClr val="262626"/>
                </a:solidFill>
                <a:latin typeface="Arial"/>
                <a:ea typeface="Arial"/>
                <a:cs typeface="Arial"/>
              </a:defRPr>
            </a:pPr>
            <a:r>
              <a:rPr sz="2100" b="0">
                <a:solidFill>
                  <a:srgbClr val="262626"/>
                </a:solidFill>
                <a:latin typeface="Arial"/>
                <a:ea typeface="Arial"/>
                <a:cs typeface="Arial"/>
              </a:rPr>
              <a:t/>
            </a:r>
          </a:p>
        </p:txBody>
      </p:sp>
      <p:sp>
        <p:nvSpPr>
          <p:cNvPr id="11" name="Problem 1">
            <a:extLst xmlns:a="http://schemas.openxmlformats.org/drawingml/2006/main">
              <a:ext uri="{FF2B5EF4-FFF2-40B4-BE49-F238E27FC236}">
                <a16:creationId xmlns:a16="http://schemas.microsoft.com/office/drawing/2014/main" id="{6A2A2E35-0D08-4FD5-B14F-2D8ED5B389AB}"/>
              </a:ext>
            </a:extLst>
          </p:cNvPr>
          <p:cNvSpPr>
            <a:spLocks xmlns:a="http://schemas.openxmlformats.org/drawingml/2006/main" noGrp="1"/>
          </p:cNvSpPr>
          <p:nvPr/>
        </p:nvSpPr>
        <p:spPr>
          <a:xfrm xmlns:a="http://schemas.openxmlformats.org/drawingml/2006/main">
            <a:off x="685800" y="3657600"/>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buNone/>
              <a:defRPr sz="2025" b="1">
                <a:solidFill>
                  <a:srgbClr val="262626"/>
                </a:solidFill>
                <a:latin typeface="Arial"/>
                <a:ea typeface="Arial"/>
                <a:cs typeface="Arial"/>
              </a:defRPr>
            </a:pPr>
            <a:r>
              <a:rPr sz="2025" b="1">
                <a:solidFill>
                  <a:srgbClr val="262626"/>
                </a:solidFill>
                <a:latin typeface="Arial"/>
                <a:ea typeface="Arial"/>
                <a:cs typeface="Arial"/>
              </a:rPr>
              <a:t/>
            </a:r>
          </a:p>
        </p:txBody>
      </p:sp>
      <p:sp>
        <p:nvSpPr>
          <p:cNvPr id="12" name="Problem detail 1">
            <a:extLst xmlns:a="http://schemas.openxmlformats.org/drawingml/2006/main">
              <a:ext uri="{FF2B5EF4-FFF2-40B4-BE49-F238E27FC236}">
                <a16:creationId xmlns:a16="http://schemas.microsoft.com/office/drawing/2014/main" id="{D8F7B192-EF6A-4AEF-B9A5-A584E675EB6B}"/>
              </a:ext>
            </a:extLst>
          </p:cNvPr>
          <p:cNvSpPr>
            <a:spLocks xmlns:a="http://schemas.openxmlformats.org/drawingml/2006/main" noGrp="1"/>
          </p:cNvSpPr>
          <p:nvPr/>
        </p:nvSpPr>
        <p:spPr>
          <a:xfrm xmlns:a="http://schemas.openxmlformats.org/drawingml/2006/main">
            <a:off x="4600575" y="3657600"/>
            <a:ext cx="6619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262626"/>
                </a:solidFill>
                <a:latin typeface="Arial"/>
                <a:ea typeface="Arial"/>
                <a:cs typeface="Arial"/>
              </a:defRPr>
            </a:defPPr>
          </a:lstStyle>
          <a:p xmlns:a="http://schemas.openxmlformats.org/drawingml/2006/main">
            <a:pPr algn="l">
              <a:buNone/>
              <a:defRPr sz="1950" b="0">
                <a:solidFill>
                  <a:srgbClr val="262626"/>
                </a:solidFill>
                <a:latin typeface="Arial"/>
                <a:ea typeface="Arial"/>
                <a:cs typeface="Arial"/>
              </a:defRPr>
            </a:pPr>
            <a:r>
              <a:rPr sz="1950" b="0">
                <a:solidFill>
                  <a:srgbClr val="262626"/>
                </a:solidFill>
                <a:latin typeface="Arial"/>
                <a:ea typeface="Arial"/>
                <a:cs typeface="Arial"/>
              </a:rPr>
              <a:t/>
            </a:r>
          </a:p>
        </p:txBody>
      </p:sp>
      <p:sp>
        <p:nvSpPr>
          <p:cNvPr id="13" name="Problem 2">
            <a:extLst xmlns:a="http://schemas.openxmlformats.org/drawingml/2006/main">
              <a:ext uri="{FF2B5EF4-FFF2-40B4-BE49-F238E27FC236}">
                <a16:creationId xmlns:a16="http://schemas.microsoft.com/office/drawing/2014/main" id="{21BA5017-A708-4E84-B452-D97960DB90A7}"/>
              </a:ext>
            </a:extLst>
          </p:cNvPr>
          <p:cNvSpPr>
            <a:spLocks xmlns:a="http://schemas.openxmlformats.org/drawingml/2006/main" noGrp="1"/>
          </p:cNvSpPr>
          <p:nvPr/>
        </p:nvSpPr>
        <p:spPr>
          <a:xfrm xmlns:a="http://schemas.openxmlformats.org/drawingml/2006/main">
            <a:off x="685800" y="4572000"/>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buNone/>
              <a:defRPr sz="2025" b="1">
                <a:solidFill>
                  <a:srgbClr val="262626"/>
                </a:solidFill>
                <a:latin typeface="Arial"/>
                <a:ea typeface="Arial"/>
                <a:cs typeface="Arial"/>
              </a:defRPr>
            </a:pPr>
            <a:r>
              <a:rPr sz="2025" b="1">
                <a:solidFill>
                  <a:srgbClr val="262626"/>
                </a:solidFill>
                <a:latin typeface="Arial"/>
                <a:ea typeface="Arial"/>
                <a:cs typeface="Arial"/>
              </a:rPr>
              <a:t/>
            </a:r>
          </a:p>
        </p:txBody>
      </p:sp>
      <p:sp>
        <p:nvSpPr>
          <p:cNvPr id="14" name="Problem detail 2">
            <a:extLst xmlns:a="http://schemas.openxmlformats.org/drawingml/2006/main">
              <a:ext uri="{FF2B5EF4-FFF2-40B4-BE49-F238E27FC236}">
                <a16:creationId xmlns:a16="http://schemas.microsoft.com/office/drawing/2014/main" id="{7D096A9C-D6C6-44D5-909D-7A1C84328F66}"/>
              </a:ext>
            </a:extLst>
          </p:cNvPr>
          <p:cNvSpPr>
            <a:spLocks xmlns:a="http://schemas.openxmlformats.org/drawingml/2006/main" noGrp="1"/>
          </p:cNvSpPr>
          <p:nvPr/>
        </p:nvSpPr>
        <p:spPr>
          <a:xfrm xmlns:a="http://schemas.openxmlformats.org/drawingml/2006/main">
            <a:off x="4600575" y="4572000"/>
            <a:ext cx="6619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262626"/>
                </a:solidFill>
                <a:latin typeface="Arial"/>
                <a:ea typeface="Arial"/>
                <a:cs typeface="Arial"/>
              </a:defRPr>
            </a:defPPr>
          </a:lstStyle>
          <a:p xmlns:a="http://schemas.openxmlformats.org/drawingml/2006/main">
            <a:pPr algn="l">
              <a:buNone/>
              <a:defRPr sz="1950" b="0">
                <a:solidFill>
                  <a:srgbClr val="262626"/>
                </a:solidFill>
                <a:latin typeface="Arial"/>
                <a:ea typeface="Arial"/>
                <a:cs typeface="Arial"/>
              </a:defRPr>
            </a:pPr>
            <a:r>
              <a:rPr sz="1950" b="0">
                <a:solidFill>
                  <a:srgbClr val="262626"/>
                </a:solidFill>
                <a:latin typeface="Arial"/>
                <a:ea typeface="Arial"/>
                <a:cs typeface="Arial"/>
              </a:rPr>
              <a:t/>
            </a:r>
          </a:p>
        </p:txBody>
      </p:sp>
      <p:sp>
        <p:nvSpPr>
          <p:cNvPr id="15" name="Problem 3">
            <a:extLst xmlns:a="http://schemas.openxmlformats.org/drawingml/2006/main">
              <a:ext uri="{FF2B5EF4-FFF2-40B4-BE49-F238E27FC236}">
                <a16:creationId xmlns:a16="http://schemas.microsoft.com/office/drawing/2014/main" id="{2B72AE58-4D97-451D-AB40-844D592EFFF2}"/>
              </a:ext>
            </a:extLst>
          </p:cNvPr>
          <p:cNvSpPr>
            <a:spLocks xmlns:a="http://schemas.openxmlformats.org/drawingml/2006/main" noGrp="1"/>
          </p:cNvSpPr>
          <p:nvPr/>
        </p:nvSpPr>
        <p:spPr>
          <a:xfrm xmlns:a="http://schemas.openxmlformats.org/drawingml/2006/main">
            <a:off x="685800" y="5486400"/>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buNone/>
              <a:defRPr sz="2025" b="1">
                <a:solidFill>
                  <a:srgbClr val="262626"/>
                </a:solidFill>
                <a:latin typeface="Arial"/>
                <a:ea typeface="Arial"/>
                <a:cs typeface="Arial"/>
              </a:defRPr>
            </a:pPr>
            <a:r>
              <a:rPr sz="2025" b="1">
                <a:solidFill>
                  <a:srgbClr val="262626"/>
                </a:solidFill>
                <a:latin typeface="Arial"/>
                <a:ea typeface="Arial"/>
                <a:cs typeface="Arial"/>
              </a:rPr>
              <a:t/>
            </a:r>
          </a:p>
        </p:txBody>
      </p:sp>
      <p:sp>
        <p:nvSpPr>
          <p:cNvPr id="16" name="Problem detail 3">
            <a:extLst xmlns:a="http://schemas.openxmlformats.org/drawingml/2006/main">
              <a:ext uri="{FF2B5EF4-FFF2-40B4-BE49-F238E27FC236}">
                <a16:creationId xmlns:a16="http://schemas.microsoft.com/office/drawing/2014/main" id="{5A8DE864-5827-499B-BA49-962DEAE2E6D4}"/>
              </a:ext>
            </a:extLst>
          </p:cNvPr>
          <p:cNvSpPr>
            <a:spLocks xmlns:a="http://schemas.openxmlformats.org/drawingml/2006/main" noGrp="1"/>
          </p:cNvSpPr>
          <p:nvPr/>
        </p:nvSpPr>
        <p:spPr>
          <a:xfrm xmlns:a="http://schemas.openxmlformats.org/drawingml/2006/main">
            <a:off x="4600575" y="5486400"/>
            <a:ext cx="6619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262626"/>
                </a:solidFill>
                <a:latin typeface="Arial"/>
                <a:ea typeface="Arial"/>
                <a:cs typeface="Arial"/>
              </a:defRPr>
            </a:defPPr>
          </a:lstStyle>
          <a:p xmlns:a="http://schemas.openxmlformats.org/drawingml/2006/main">
            <a:pPr algn="l">
              <a:buNone/>
              <a:defRPr sz="1950" b="0">
                <a:solidFill>
                  <a:srgbClr val="262626"/>
                </a:solidFill>
                <a:latin typeface="Arial"/>
                <a:ea typeface="Arial"/>
                <a:cs typeface="Arial"/>
              </a:defRPr>
            </a:pPr>
            <a:r>
              <a:rPr sz="1950" b="0">
                <a:solidFill>
                  <a:srgbClr val="262626"/>
                </a:solidFill>
                <a:latin typeface="Arial"/>
                <a:ea typeface="Arial"/>
                <a:cs typeface="Arial"/>
              </a:rPr>
              <a:t/>
            </a:r>
          </a:p>
        </p:txBody>
      </p:sp>
      <p:sp>
        <p:nvSpPr>
          <p:cNvPr id="17" name="Supplied problem statement">
            <a:extLst xmlns:a="http://schemas.openxmlformats.org/drawingml/2006/main">
              <a:ext uri="{FF2B5EF4-FFF2-40B4-BE49-F238E27FC236}">
                <a16:creationId xmlns:a16="http://schemas.microsoft.com/office/drawing/2014/main" id="{D13D84CA-AA56-4F6D-9850-BD781EA0DF8D}"/>
              </a:ext>
            </a:extLst>
          </p:cNvPr>
          <p:cNvSpPr>
            <a:spLocks xmlns:a="http://schemas.openxmlformats.org/drawingml/2006/main" noGrp="1"/>
          </p:cNvSpPr>
          <p:nvPr/>
        </p:nvSpPr>
        <p:spPr>
          <a:xfrm xmlns:a="http://schemas.openxmlformats.org/drawingml/2006/main">
            <a:off x="685800" y="1219200"/>
            <a:ext cx="10715625" cy="523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a:solidFill>
                  <a:srgbClr val="262626"/>
                </a:solidFill>
                <a:latin typeface="Arial"/>
                <a:ea typeface="Arial"/>
                <a:cs typeface="Arial"/>
              </a:defRPr>
            </a:defPPr>
          </a:lstStyle>
          <a:p xmlns:a="http://schemas.openxmlformats.org/drawingml/2006/main">
            <a:pPr algn="l">
              <a:defRPr sz="1950">
                <a:solidFill>
                  <a:srgbClr val="262626"/>
                </a:solidFill>
                <a:latin typeface="Arial"/>
                <a:ea typeface="Arial"/>
                <a:cs typeface="Arial"/>
              </a:defRPr>
            </a:pPr>
            <a:r>
              <a:rPr sz="1950">
                <a:solidFill>
                  <a:srgbClr val="262626"/>
                </a:solidFill>
                <a:latin typeface="Arial"/>
                <a:ea typeface="Arial"/>
                <a:cs typeface="Arial"/>
              </a:rPr>
              <a:t>Large conferences, hackathons, malls, and hospitals still rely on walkie-talkies for team coordination, which require cost, charging, and maintenance while supporting only voice communication.</a:t>
            </a:r>
          </a:p>
          <a:p xmlns:a="http://schemas.openxmlformats.org/drawingml/2006/main">
            <a:r>
              <a:t/>
            </a:r>
          </a:p>
          <a:p xmlns:a="http://schemas.openxmlformats.org/drawingml/2006/main">
            <a:pPr algn="l">
              <a:defRPr sz="1950">
                <a:solidFill>
                  <a:srgbClr val="262626"/>
                </a:solidFill>
                <a:latin typeface="Arial"/>
                <a:ea typeface="Arial"/>
                <a:cs typeface="Arial"/>
              </a:defRPr>
            </a:pPr>
            <a:r>
              <a:rPr sz="1950">
                <a:solidFill>
                  <a:srgbClr val="262626"/>
                </a:solidFill>
                <a:latin typeface="Arial"/>
                <a:ea typeface="Arial"/>
                <a:cs typeface="Arial"/>
              </a:rPr>
              <a:t>Build a communicator app that runs on staff members’ phones, providing instant push-to-talk for individuals or team channels, along with chat, photo/video sharing, and voice/video calls in a familiar messaging interface.</a:t>
            </a:r>
          </a:p>
          <a:p xmlns:a="http://schemas.openxmlformats.org/drawingml/2006/main">
            <a:r>
              <a:t/>
            </a:r>
          </a:p>
          <a:p xmlns:a="http://schemas.openxmlformats.org/drawingml/2006/main">
            <a:pPr algn="l">
              <a:defRPr sz="1950">
                <a:solidFill>
                  <a:srgbClr val="262626"/>
                </a:solidFill>
                <a:latin typeface="Arial"/>
                <a:ea typeface="Arial"/>
                <a:cs typeface="Arial"/>
              </a:defRPr>
            </a:pPr>
            <a:r>
              <a:rPr sz="1950">
                <a:solidFill>
                  <a:srgbClr val="262626"/>
                </a:solidFill>
                <a:latin typeface="Arial"/>
                <a:ea typeface="Arial"/>
                <a:cs typeface="Arial"/>
              </a:rPr>
              <a:t>The system must operate as a closed organisational network, where only authorised members can join and admins manage teams and channels. Provide an admin view to monitor online users and active channels, with the ability to broadcast to everyone.</a:t>
            </a:r>
          </a:p>
          <a:p xmlns:a="http://schemas.openxmlformats.org/drawingml/2006/main">
            <a:r>
              <a:t/>
            </a:r>
          </a:p>
          <a:p xmlns:a="http://schemas.openxmlformats.org/drawingml/2006/main">
            <a:pPr algn="l">
              <a:defRPr sz="1950">
                <a:solidFill>
                  <a:srgbClr val="262626"/>
                </a:solidFill>
                <a:latin typeface="Arial"/>
                <a:ea typeface="Arial"/>
                <a:cs typeface="Arial"/>
              </a:defRPr>
            </a:pPr>
            <a:r>
              <a:rPr sz="1950">
                <a:solidFill>
                  <a:srgbClr val="262626"/>
                </a:solidFill>
                <a:latin typeface="Arial"/>
                <a:ea typeface="Arial"/>
                <a:cs typeface="Arial"/>
              </a:rPr>
              <a:t>Prefer direct device-to-device communication where possible, while handling network congestion, patchy connectivity, and locked phones. All messages and media must remain within the organisation’s own infrastructure.</a:t>
            </a:r>
          </a:p>
        </p:txBody>
      </p:sp>
    </p:spTree>
    <p:extLst>
      <p:ext uri="{BB962C8B-B14F-4D97-AF65-F5344CB8AC3E}">
        <p14:creationId xmlns:p14="http://schemas.microsoft.com/office/powerpoint/2010/main" val="73775601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1CFDC9-1316-20F8-3E5A-445CDAD2CA44}"/>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456CF8F9-540D-A9CB-CFFA-955301321115}"/>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5A95D0A5-BE1E-4DA5-B835-534C1D78839B}"/>
              </a:ext>
            </a:extLst>
          </p:cNvPr>
          <p:cNvPicPr>
            <a:picLocks xmlns:a="http://schemas.openxmlformats.org/drawingml/2006/main" noChangeAspect="1"/>
          </p:cNvPicPr>
          <p:nvPr/>
        </p:nvPicPr>
        <p:blipFill>
          <a:blip xmlns:r="http://schemas.openxmlformats.org/officeDocument/2006/relationships" xmlns:a="http://schemas.openxmlformats.org/drawingml/2006/main" r:embed="Rb3932c545a6c4b5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F9AB7C55-D771-4D0D-95B4-51C7E884FF95}"/>
              </a:ext>
            </a:extLst>
          </p:cNvPr>
          <p:cNvPicPr>
            <a:picLocks xmlns:a="http://schemas.openxmlformats.org/drawingml/2006/main" noChangeAspect="1"/>
          </p:cNvPicPr>
          <p:nvPr/>
        </p:nvPicPr>
        <p:blipFill>
          <a:blip xmlns:r="http://schemas.openxmlformats.org/officeDocument/2006/relationships" xmlns:a="http://schemas.openxmlformats.org/drawingml/2006/main" r:embed="R0227fd3aef0f478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BDA9BCA3-4C87-7F41-5A3C-34B94BE2D2A0}"/>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Proposed Solution</a:t>
            </a:r>
          </a:p>
        </p:txBody>
      </p:sp>
      <p:sp>
        <p:nvSpPr>
          <p:cNvPr id="9" name="Solution headline">
            <a:extLst xmlns:a="http://schemas.openxmlformats.org/drawingml/2006/main">
              <a:ext uri="{FF2B5EF4-FFF2-40B4-BE49-F238E27FC236}">
                <a16:creationId xmlns:a16="http://schemas.microsoft.com/office/drawing/2014/main" id="{7E2ADBED-4CD9-4697-8335-B6E242981BB8}"/>
              </a:ext>
            </a:extLst>
          </p:cNvPr>
          <p:cNvSpPr>
            <a:spLocks xmlns:a="http://schemas.openxmlformats.org/drawingml/2006/main" noGrp="1"/>
          </p:cNvSpPr>
          <p:nvPr/>
        </p:nvSpPr>
        <p:spPr>
          <a:xfrm xmlns:a="http://schemas.openxmlformats.org/drawingml/2006/main">
            <a:off x="685800" y="1219200"/>
            <a:ext cx="7810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buNone/>
              <a:defRPr sz="3000" b="1">
                <a:solidFill>
                  <a:srgbClr val="262626"/>
                </a:solidFill>
                <a:latin typeface="Arial"/>
                <a:ea typeface="Arial"/>
                <a:cs typeface="Arial"/>
              </a:defRPr>
            </a:pPr>
            <a:r>
              <a:rPr sz="3000" b="1">
                <a:solidFill>
                  <a:srgbClr val="262626"/>
                </a:solidFill>
                <a:latin typeface="Arial"/>
                <a:ea typeface="Arial"/>
                <a:cs typeface="Arial"/>
              </a:rPr>
              <a:t>A closed organisation network</a:t>
            </a:r>
          </a:p>
          <a:p xmlns:a="http://schemas.openxmlformats.org/drawingml/2006/main">
            <a:pPr algn="l">
              <a:buNone/>
              <a:defRPr sz="3000" b="1">
                <a:solidFill>
                  <a:srgbClr val="262626"/>
                </a:solidFill>
                <a:latin typeface="Arial"/>
                <a:ea typeface="Arial"/>
                <a:cs typeface="Arial"/>
              </a:defRPr>
            </a:pPr>
            <a:r>
              <a:rPr sz="3000" b="1">
                <a:solidFill>
                  <a:srgbClr val="262626"/>
                </a:solidFill>
                <a:latin typeface="Arial"/>
                <a:ea typeface="Arial"/>
                <a:cs typeface="Arial"/>
              </a:rPr>
              <a:t>with a familiar messaging interface</a:t>
            </a:r>
          </a:p>
        </p:txBody>
      </p:sp>
      <p:sp>
        <p:nvSpPr>
          <p:cNvPr id="10" name="Solution introduction">
            <a:extLst xmlns:a="http://schemas.openxmlformats.org/drawingml/2006/main">
              <a:ext uri="{FF2B5EF4-FFF2-40B4-BE49-F238E27FC236}">
                <a16:creationId xmlns:a16="http://schemas.microsoft.com/office/drawing/2014/main" id="{7A21E5DC-2934-4422-BDE9-EEB97D4A6ED7}"/>
              </a:ext>
            </a:extLst>
          </p:cNvPr>
          <p:cNvSpPr>
            <a:spLocks xmlns:a="http://schemas.openxmlformats.org/drawingml/2006/main" noGrp="1"/>
          </p:cNvSpPr>
          <p:nvPr/>
        </p:nvSpPr>
        <p:spPr>
          <a:xfrm xmlns:a="http://schemas.openxmlformats.org/drawingml/2006/main">
            <a:off x="685800" y="2514600"/>
            <a:ext cx="7429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262626"/>
                </a:solidFill>
                <a:latin typeface="Arial"/>
                <a:ea typeface="Arial"/>
                <a:cs typeface="Arial"/>
              </a:defRPr>
            </a:defPPr>
          </a:lstStyle>
          <a:p xmlns:a="http://schemas.openxmlformats.org/drawingml/2006/main">
            <a:pPr algn="l">
              <a:buNone/>
              <a:defRPr sz="2100" b="0">
                <a:solidFill>
                  <a:srgbClr val="262626"/>
                </a:solidFill>
                <a:latin typeface="Arial"/>
                <a:ea typeface="Arial"/>
                <a:cs typeface="Arial"/>
              </a:defRPr>
            </a:pPr>
            <a:r>
              <a:rPr sz="2100" b="0">
                <a:solidFill>
                  <a:srgbClr val="262626"/>
                </a:solidFill>
                <a:latin typeface="Arial"/>
                <a:ea typeface="Arial"/>
                <a:cs typeface="Arial"/>
              </a:rPr>
              <a:t>Staff communicate through the Android app. Admins manage access, presence and channels in the browser console.</a:t>
            </a:r>
          </a:p>
        </p:txBody>
      </p:sp>
      <p:sp>
        <p:nvSpPr>
          <p:cNvPr id="11" name="Solution label 0">
            <a:extLst xmlns:a="http://schemas.openxmlformats.org/drawingml/2006/main">
              <a:ext uri="{FF2B5EF4-FFF2-40B4-BE49-F238E27FC236}">
                <a16:creationId xmlns:a16="http://schemas.microsoft.com/office/drawing/2014/main" id="{DF53BC97-3DFA-42EC-84DA-7FDFE36B97E0}"/>
              </a:ext>
            </a:extLst>
          </p:cNvPr>
          <p:cNvSpPr>
            <a:spLocks xmlns:a="http://schemas.openxmlformats.org/drawingml/2006/main" noGrp="1"/>
          </p:cNvSpPr>
          <p:nvPr/>
        </p:nvSpPr>
        <p:spPr>
          <a:xfrm xmlns:a="http://schemas.openxmlformats.org/drawingml/2006/main">
            <a:off x="685800" y="34290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1">
                <a:solidFill>
                  <a:srgbClr val="262626"/>
                </a:solidFill>
                <a:latin typeface="Arial"/>
                <a:ea typeface="Arial"/>
                <a:cs typeface="Arial"/>
              </a:defRPr>
            </a:defPPr>
          </a:lstStyle>
          <a:p xmlns:a="http://schemas.openxmlformats.org/drawingml/2006/main">
            <a:pPr algn="l">
              <a:buNone/>
              <a:defRPr sz="1950" b="1">
                <a:solidFill>
                  <a:srgbClr val="262626"/>
                </a:solidFill>
                <a:latin typeface="Arial"/>
                <a:ea typeface="Arial"/>
                <a:cs typeface="Arial"/>
              </a:defRPr>
            </a:pPr>
            <a:r>
              <a:rPr sz="1950" b="1">
                <a:solidFill>
                  <a:srgbClr val="262626"/>
                </a:solidFill>
                <a:latin typeface="Arial"/>
                <a:ea typeface="Arial"/>
                <a:cs typeface="Arial"/>
              </a:rPr>
              <a:t>Push-to-talk and private calls</a:t>
            </a:r>
          </a:p>
        </p:txBody>
      </p:sp>
      <p:sp>
        <p:nvSpPr>
          <p:cNvPr id="12" name="Solution detail 0">
            <a:extLst xmlns:a="http://schemas.openxmlformats.org/drawingml/2006/main">
              <a:ext uri="{FF2B5EF4-FFF2-40B4-BE49-F238E27FC236}">
                <a16:creationId xmlns:a16="http://schemas.microsoft.com/office/drawing/2014/main" id="{0BB13A32-4014-483A-A875-04B391379DA2}"/>
              </a:ext>
            </a:extLst>
          </p:cNvPr>
          <p:cNvSpPr>
            <a:spLocks xmlns:a="http://schemas.openxmlformats.org/drawingml/2006/main" noGrp="1"/>
          </p:cNvSpPr>
          <p:nvPr/>
        </p:nvSpPr>
        <p:spPr>
          <a:xfrm xmlns:a="http://schemas.openxmlformats.org/drawingml/2006/main">
            <a:off x="685800" y="3781425"/>
            <a:ext cx="742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buNone/>
              <a:defRPr sz="1875" b="0">
                <a:solidFill>
                  <a:srgbClr val="262626"/>
                </a:solidFill>
                <a:latin typeface="Arial"/>
                <a:ea typeface="Arial"/>
                <a:cs typeface="Arial"/>
              </a:defRPr>
            </a:pPr>
            <a:r>
              <a:rPr sz="1875" b="0">
                <a:solidFill>
                  <a:srgbClr val="262626"/>
                </a:solidFill>
                <a:latin typeface="Arial"/>
                <a:ea typeface="Arial"/>
                <a:cs typeface="Arial"/>
              </a:rPr>
              <a:t>Use permitted team/private PTT, voice/video calls and broadcasts to everyone.</a:t>
            </a:r>
          </a:p>
        </p:txBody>
      </p:sp>
      <p:sp>
        <p:nvSpPr>
          <p:cNvPr id="13" name="Solution label 1">
            <a:extLst xmlns:a="http://schemas.openxmlformats.org/drawingml/2006/main">
              <a:ext uri="{FF2B5EF4-FFF2-40B4-BE49-F238E27FC236}">
                <a16:creationId xmlns:a16="http://schemas.microsoft.com/office/drawing/2014/main" id="{CB775A7C-6767-487E-8607-7AEA52A59692}"/>
              </a:ext>
            </a:extLst>
          </p:cNvPr>
          <p:cNvSpPr>
            <a:spLocks xmlns:a="http://schemas.openxmlformats.org/drawingml/2006/main" noGrp="1"/>
          </p:cNvSpPr>
          <p:nvPr/>
        </p:nvSpPr>
        <p:spPr>
          <a:xfrm xmlns:a="http://schemas.openxmlformats.org/drawingml/2006/main">
            <a:off x="685800" y="447675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1">
                <a:solidFill>
                  <a:srgbClr val="262626"/>
                </a:solidFill>
                <a:latin typeface="Arial"/>
                <a:ea typeface="Arial"/>
                <a:cs typeface="Arial"/>
              </a:defRPr>
            </a:defPPr>
          </a:lstStyle>
          <a:p xmlns:a="http://schemas.openxmlformats.org/drawingml/2006/main">
            <a:pPr algn="l">
              <a:buNone/>
              <a:defRPr sz="1950" b="1">
                <a:solidFill>
                  <a:srgbClr val="262626"/>
                </a:solidFill>
                <a:latin typeface="Arial"/>
                <a:ea typeface="Arial"/>
                <a:cs typeface="Arial"/>
              </a:defRPr>
            </a:pPr>
            <a:r>
              <a:rPr sz="1950" b="1">
                <a:solidFill>
                  <a:srgbClr val="262626"/>
                </a:solidFill>
                <a:latin typeface="Arial"/>
                <a:ea typeface="Arial"/>
                <a:cs typeface="Arial"/>
              </a:rPr>
              <a:t>Chat and media sharing</a:t>
            </a:r>
          </a:p>
        </p:txBody>
      </p:sp>
      <p:sp>
        <p:nvSpPr>
          <p:cNvPr id="14" name="Solution detail 1">
            <a:extLst xmlns:a="http://schemas.openxmlformats.org/drawingml/2006/main">
              <a:ext uri="{FF2B5EF4-FFF2-40B4-BE49-F238E27FC236}">
                <a16:creationId xmlns:a16="http://schemas.microsoft.com/office/drawing/2014/main" id="{C5FF91FD-3AD6-45BB-967C-60DD42400D94}"/>
              </a:ext>
            </a:extLst>
          </p:cNvPr>
          <p:cNvSpPr>
            <a:spLocks xmlns:a="http://schemas.openxmlformats.org/drawingml/2006/main" noGrp="1"/>
          </p:cNvSpPr>
          <p:nvPr/>
        </p:nvSpPr>
        <p:spPr>
          <a:xfrm xmlns:a="http://schemas.openxmlformats.org/drawingml/2006/main">
            <a:off x="685800" y="4829175"/>
            <a:ext cx="742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buNone/>
              <a:defRPr sz="1875" b="0">
                <a:solidFill>
                  <a:srgbClr val="262626"/>
                </a:solidFill>
                <a:latin typeface="Arial"/>
                <a:ea typeface="Arial"/>
                <a:cs typeface="Arial"/>
              </a:defRPr>
            </a:pPr>
            <a:r>
              <a:rPr sz="1875" b="0">
                <a:solidFill>
                  <a:srgbClr val="262626"/>
                </a:solidFill>
                <a:latin typeface="Arial"/>
                <a:ea typeface="Arial"/>
                <a:cs typeface="Arial"/>
              </a:rPr>
              <a:t>Send text, photos, videos and voice notes. Keep saved PTT bursts available for replay.</a:t>
            </a:r>
          </a:p>
        </p:txBody>
      </p:sp>
      <p:sp>
        <p:nvSpPr>
          <p:cNvPr id="15" name="Solution label 2">
            <a:extLst xmlns:a="http://schemas.openxmlformats.org/drawingml/2006/main">
              <a:ext uri="{FF2B5EF4-FFF2-40B4-BE49-F238E27FC236}">
                <a16:creationId xmlns:a16="http://schemas.microsoft.com/office/drawing/2014/main" id="{13538E33-0BA2-4D1D-9F3C-B568D2A61433}"/>
              </a:ext>
            </a:extLst>
          </p:cNvPr>
          <p:cNvSpPr>
            <a:spLocks xmlns:a="http://schemas.openxmlformats.org/drawingml/2006/main" noGrp="1"/>
          </p:cNvSpPr>
          <p:nvPr/>
        </p:nvSpPr>
        <p:spPr>
          <a:xfrm xmlns:a="http://schemas.openxmlformats.org/drawingml/2006/main">
            <a:off x="685800" y="55245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1">
                <a:solidFill>
                  <a:srgbClr val="262626"/>
                </a:solidFill>
                <a:latin typeface="Arial"/>
                <a:ea typeface="Arial"/>
                <a:cs typeface="Arial"/>
              </a:defRPr>
            </a:defPPr>
          </a:lstStyle>
          <a:p xmlns:a="http://schemas.openxmlformats.org/drawingml/2006/main">
            <a:pPr algn="l">
              <a:buNone/>
              <a:defRPr sz="1950" b="1">
                <a:solidFill>
                  <a:srgbClr val="262626"/>
                </a:solidFill>
                <a:latin typeface="Arial"/>
                <a:ea typeface="Arial"/>
                <a:cs typeface="Arial"/>
              </a:defRPr>
            </a:pPr>
            <a:r>
              <a:rPr sz="1950" b="1">
                <a:solidFill>
                  <a:srgbClr val="262626"/>
                </a:solidFill>
                <a:latin typeface="Arial"/>
                <a:ea typeface="Arial"/>
                <a:cs typeface="Arial"/>
              </a:rPr>
              <a:t>Organisation control and recovery</a:t>
            </a:r>
          </a:p>
        </p:txBody>
      </p:sp>
      <p:sp>
        <p:nvSpPr>
          <p:cNvPr id="16" name="Solution detail 2">
            <a:extLst xmlns:a="http://schemas.openxmlformats.org/drawingml/2006/main">
              <a:ext uri="{FF2B5EF4-FFF2-40B4-BE49-F238E27FC236}">
                <a16:creationId xmlns:a16="http://schemas.microsoft.com/office/drawing/2014/main" id="{34137708-122A-433B-948A-3E8FEE84683D}"/>
              </a:ext>
            </a:extLst>
          </p:cNvPr>
          <p:cNvSpPr>
            <a:spLocks xmlns:a="http://schemas.openxmlformats.org/drawingml/2006/main" noGrp="1"/>
          </p:cNvSpPr>
          <p:nvPr/>
        </p:nvSpPr>
        <p:spPr>
          <a:xfrm xmlns:a="http://schemas.openxmlformats.org/drawingml/2006/main">
            <a:off x="685800" y="5876925"/>
            <a:ext cx="742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buNone/>
              <a:defRPr sz="1875" b="0">
                <a:solidFill>
                  <a:srgbClr val="262626"/>
                </a:solidFill>
                <a:latin typeface="Arial"/>
                <a:ea typeface="Arial"/>
                <a:cs typeface="Arial"/>
              </a:defRPr>
            </a:pPr>
            <a:r>
              <a:rPr sz="1875" b="0">
                <a:solidFill>
                  <a:srgbClr val="262626"/>
                </a:solidFill>
                <a:latin typeface="Arial"/>
                <a:ea typeface="Arial"/>
                <a:cs typeface="Arial"/>
              </a:rPr>
              <a:t>Approve members and devices, restrict channel access and recover through local queues and Nearby.</a:t>
            </a:r>
          </a:p>
        </p:txBody>
      </p:sp>
      <p:pic>
        <p:nvPicPr>
          <p:cNvPr id="17" name="">
            <a:extLst xmlns:a="http://schemas.openxmlformats.org/drawingml/2006/main">
              <a:ext uri="{FF2B5EF4-FFF2-40B4-BE49-F238E27FC236}">
                <a16:creationId xmlns:a16="http://schemas.microsoft.com/office/drawing/2014/main" id="{DBD2B2AC-6507-424D-896D-CA520B502B5E}"/>
              </a:ext>
            </a:extLst>
          </p:cNvPr>
          <p:cNvPicPr>
            <a:picLocks xmlns:a="http://schemas.openxmlformats.org/drawingml/2006/main" noChangeAspect="1"/>
          </p:cNvPicPr>
          <p:nvPr/>
        </p:nvPicPr>
        <p:blipFill>
          <a:blip xmlns:r="http://schemas.openxmlformats.org/officeDocument/2006/relationships" xmlns:a="http://schemas.openxmlformats.org/drawingml/2006/main" r:embed="R413b762dea98461b"/>
          <a:srcRect xmlns:a="http://schemas.openxmlformats.org/drawingml/2006/main" l="0" t="0" r="0" b="0"/>
          <a:stretch xmlns:a="http://schemas.openxmlformats.org/drawingml/2006/main">
            <a:fillRect l="0" t="0" r="0" b="0"/>
          </a:stretch>
        </p:blipFill>
        <p:spPr>
          <a:xfrm xmlns:a="http://schemas.openxmlformats.org/drawingml/2006/main">
            <a:off x="8972834" y="1219200"/>
            <a:ext cx="2209231" cy="4933950"/>
          </a:xfrm>
          <a:prstGeom xmlns:a="http://schemas.openxmlformats.org/drawingml/2006/main" prst="rect">
            <a:avLst/>
          </a:prstGeom>
        </p:spPr>
      </p:pic>
      <p:sp>
        <p:nvSpPr>
          <p:cNvPr id="18" name="Solution screenshot caption">
            <a:extLst xmlns:a="http://schemas.openxmlformats.org/drawingml/2006/main">
              <a:ext uri="{FF2B5EF4-FFF2-40B4-BE49-F238E27FC236}">
                <a16:creationId xmlns:a16="http://schemas.microsoft.com/office/drawing/2014/main" id="{4202003C-DB0B-4922-833C-A36F8FFF5313}"/>
              </a:ext>
            </a:extLst>
          </p:cNvPr>
          <p:cNvSpPr>
            <a:spLocks xmlns:a="http://schemas.openxmlformats.org/drawingml/2006/main" noGrp="1"/>
          </p:cNvSpPr>
          <p:nvPr/>
        </p:nvSpPr>
        <p:spPr>
          <a:xfrm xmlns:a="http://schemas.openxmlformats.org/drawingml/2006/main">
            <a:off x="8972550" y="62674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66666"/>
                </a:solidFill>
                <a:latin typeface="Arial"/>
                <a:ea typeface="Arial"/>
                <a:cs typeface="Arial"/>
              </a:defRPr>
            </a:defPPr>
          </a:lstStyle>
          <a:p xmlns:a="http://schemas.openxmlformats.org/drawingml/2006/main">
            <a:pPr algn="l">
              <a:buNone/>
              <a:defRPr sz="1500" b="0">
                <a:solidFill>
                  <a:srgbClr val="666666"/>
                </a:solidFill>
                <a:latin typeface="Arial"/>
                <a:ea typeface="Arial"/>
                <a:cs typeface="Arial"/>
              </a:defRPr>
            </a:pPr>
            <a:r>
              <a:rPr sz="1500" b="0">
                <a:solidFill>
                  <a:srgbClr val="666666"/>
                </a:solidFill>
                <a:latin typeface="Arial"/>
                <a:ea typeface="Arial"/>
                <a:cs typeface="Arial"/>
              </a:rPr>
              <a:t>Android Message Log</a:t>
            </a:r>
          </a:p>
        </p:txBody>
      </p:sp>
    </p:spTree>
    <p:extLst>
      <p:ext uri="{BB962C8B-B14F-4D97-AF65-F5344CB8AC3E}">
        <p14:creationId xmlns:p14="http://schemas.microsoft.com/office/powerpoint/2010/main" val="282926408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2EF9D7-A296-B367-641D-5ED71C52CC57}"/>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F6CDAC5D-34C0-0403-A7BC-21BF267ECE4A}"/>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26F8E90C-AD63-4EC0-9826-6AA83DD1061C}"/>
              </a:ext>
            </a:extLst>
          </p:cNvPr>
          <p:cNvPicPr>
            <a:picLocks xmlns:a="http://schemas.openxmlformats.org/drawingml/2006/main" noChangeAspect="1"/>
          </p:cNvPicPr>
          <p:nvPr/>
        </p:nvPicPr>
        <p:blipFill>
          <a:blip xmlns:r="http://schemas.openxmlformats.org/officeDocument/2006/relationships" xmlns:a="http://schemas.openxmlformats.org/drawingml/2006/main" r:embed="Rc034c538becc434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12E3D0F3-6EF8-4CDD-882D-2E8A3998012A}"/>
              </a:ext>
            </a:extLst>
          </p:cNvPr>
          <p:cNvPicPr>
            <a:picLocks xmlns:a="http://schemas.openxmlformats.org/drawingml/2006/main" noChangeAspect="1"/>
          </p:cNvPicPr>
          <p:nvPr/>
        </p:nvPicPr>
        <p:blipFill>
          <a:blip xmlns:r="http://schemas.openxmlformats.org/officeDocument/2006/relationships" xmlns:a="http://schemas.openxmlformats.org/drawingml/2006/main" r:embed="R31c1864709124c5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99269F55-A8D0-AF52-4D37-C44FD377510C}"/>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Technical Architecture and Tech Stack</a:t>
            </a:r>
          </a:p>
        </p:txBody>
      </p:sp>
      <p:sp>
        <p:nvSpPr>
          <p:cNvPr id="9" name="Content headline">
            <a:extLst xmlns:a="http://schemas.openxmlformats.org/drawingml/2006/main">
              <a:ext uri="{FF2B5EF4-FFF2-40B4-BE49-F238E27FC236}">
                <a16:creationId xmlns:a16="http://schemas.microsoft.com/office/drawing/2014/main" id="{D22D5667-C487-4E40-B921-900AE7BF0475}"/>
              </a:ext>
            </a:extLst>
          </p:cNvPr>
          <p:cNvSpPr>
            <a:spLocks xmlns:a="http://schemas.openxmlformats.org/drawingml/2006/main" noGrp="1"/>
          </p:cNvSpPr>
          <p:nvPr/>
        </p:nvSpPr>
        <p:spPr>
          <a:xfrm xmlns:a="http://schemas.openxmlformats.org/drawingml/2006/main">
            <a:off x="685800" y="121920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buNone/>
              <a:defRPr sz="3000" b="1">
                <a:solidFill>
                  <a:srgbClr val="262626"/>
                </a:solidFill>
                <a:latin typeface="Arial"/>
                <a:ea typeface="Arial"/>
                <a:cs typeface="Arial"/>
              </a:defRPr>
            </a:pPr>
            <a:r>
              <a:rPr sz="3000" b="1">
                <a:solidFill>
                  <a:srgbClr val="262626"/>
                </a:solidFill>
                <a:latin typeface="Arial"/>
                <a:ea typeface="Arial"/>
                <a:cs typeface="Arial"/>
              </a:rPr>
              <a:t>Organisation-hosted services</a:t>
            </a:r>
          </a:p>
          <a:p xmlns:a="http://schemas.openxmlformats.org/drawingml/2006/main">
            <a:pPr algn="l">
              <a:buNone/>
              <a:defRPr sz="3000" b="1">
                <a:solidFill>
                  <a:srgbClr val="262626"/>
                </a:solidFill>
                <a:latin typeface="Arial"/>
                <a:ea typeface="Arial"/>
                <a:cs typeface="Arial"/>
              </a:defRPr>
            </a:pPr>
            <a:r>
              <a:rPr sz="3000" b="1">
                <a:solidFill>
                  <a:srgbClr val="262626"/>
                </a:solidFill>
                <a:latin typeface="Arial"/>
                <a:ea typeface="Arial"/>
                <a:cs typeface="Arial"/>
              </a:rPr>
              <a:t>with local recovery on each client</a:t>
            </a:r>
          </a:p>
        </p:txBody>
      </p:sp>
      <p:graphicFrame>
        <p:nvGraphicFramePr>
          <p:cNvPr id="10" name="">
            <a:extLst xmlns:a="http://schemas.openxmlformats.org/drawingml/2006/main">
              <a:ext uri="{FF2B5EF4-FFF2-40B4-BE49-F238E27FC236}">
                <a16:creationId xmlns:a16="http://schemas.microsoft.com/office/drawing/2014/main" id="{A271DA21-D9A0-4D97-B12B-DC56A1D6D18D}"/>
              </a:ext>
            </a:extLst>
          </p:cNvPr>
          <p:cNvGraphicFramePr/>
          <p:nvPr/>
        </p:nvGraphicFramePr>
        <p:xfrm>
          <a:off xmlns:a="http://schemas.openxmlformats.org/drawingml/2006/main" x="685800" y="2466975"/>
          <a:ext xmlns:a="http://schemas.openxmlformats.org/drawingml/2006/main" cx="10801350" cy="3333750"/>
        </p:xfrm>
        <a:graphic xmlns:a="http://schemas.openxmlformats.org/drawingml/2006/main">
          <a:graphicData uri="http://schemas.openxmlformats.org/drawingml/2006/table">
            <a:tbl>
              <a:tblPr/>
              <a:tblGrid>
                <a:gridCol w="2190750"/>
                <a:gridCol w="3286125"/>
                <a:gridCol w="5324475"/>
              </a:tblGrid>
              <a:tr h="555625">
                <a:tc>
                  <a:txBody>
                    <a:bodyPr/>
                    <a:lstStyle/>
                    <a:p>
                      <a:r>
                        <a:rPr sz="1725" b="1">
                          <a:solidFill>
                            <a:srgbClr val="FFFFFF"/>
                          </a:solidFill>
                          <a:latin typeface="Arial"/>
                          <a:ea typeface="Arial"/>
                          <a:cs typeface="Arial"/>
                        </a:rPr>
                        <a:t>Layer</a:t>
                      </a:r>
                    </a:p>
                  </a:txBody>
                  <a:tcPr marL="91440" marR="91440" marT="45720" marB="45720">
                    <a:solidFill>
                      <a:srgbClr val="A80000"/>
                    </a:solidFill>
                  </a:tcPr>
                </a:tc>
                <a:tc>
                  <a:txBody>
                    <a:bodyPr/>
                    <a:lstStyle/>
                    <a:p>
                      <a:r>
                        <a:rPr sz="1725" b="1">
                          <a:solidFill>
                            <a:srgbClr val="FFFFFF"/>
                          </a:solidFill>
                          <a:latin typeface="Arial"/>
                          <a:ea typeface="Arial"/>
                          <a:cs typeface="Arial"/>
                        </a:rPr>
                        <a:t>Technology</a:t>
                      </a:r>
                    </a:p>
                  </a:txBody>
                  <a:tcPr marL="91440" marR="91440" marT="45720" marB="45720">
                    <a:solidFill>
                      <a:srgbClr val="A80000"/>
                    </a:solidFill>
                  </a:tcPr>
                </a:tc>
                <a:tc>
                  <a:txBody>
                    <a:bodyPr/>
                    <a:lstStyle/>
                    <a:p>
                      <a:r>
                        <a:rPr sz="1725" b="1">
                          <a:solidFill>
                            <a:srgbClr val="FFFFFF"/>
                          </a:solidFill>
                          <a:latin typeface="Arial"/>
                          <a:ea typeface="Arial"/>
                          <a:cs typeface="Arial"/>
                        </a:rPr>
                        <a:t>Responsibility</a:t>
                      </a:r>
                    </a:p>
                  </a:txBody>
                  <a:tcPr marL="91440" marR="91440" marT="45720" marB="45720">
                    <a:solidFill>
                      <a:srgbClr val="A80000"/>
                    </a:solidFill>
                  </a:tcPr>
                </a:tc>
              </a:tr>
              <a:tr h="555625">
                <a:tc>
                  <a:txBody>
                    <a:bodyPr/>
                    <a:lstStyle/>
                    <a:p>
                      <a:r>
                        <a:rPr sz="1725" b="0">
                          <a:solidFill>
                            <a:srgbClr val="262626"/>
                          </a:solidFill>
                          <a:latin typeface="Arial"/>
                          <a:ea typeface="Arial"/>
                          <a:cs typeface="Arial"/>
                        </a:rPr>
                        <a:t>Android app</a:t>
                      </a:r>
                    </a:p>
                  </a:txBody>
                  <a:tcPr marL="91440" marR="91440" marT="45720" marB="45720">
                    <a:solidFill>
                      <a:srgbClr val="FFFFFF"/>
                    </a:solidFill>
                  </a:tcPr>
                </a:tc>
                <a:tc>
                  <a:txBody>
                    <a:bodyPr/>
                    <a:lstStyle/>
                    <a:p>
                      <a:r>
                        <a:rPr sz="1725" b="0">
                          <a:solidFill>
                            <a:srgbClr val="262626"/>
                          </a:solidFill>
                          <a:latin typeface="Arial"/>
                          <a:ea typeface="Arial"/>
                          <a:cs typeface="Arial"/>
                        </a:rPr>
                        <a:t>Kotlin, Compose, Room</a:t>
                      </a:r>
                    </a:p>
                  </a:txBody>
                  <a:tcPr marL="91440" marR="91440" marT="45720" marB="45720">
                    <a:solidFill>
                      <a:srgbClr val="FFFFFF"/>
                    </a:solidFill>
                  </a:tcPr>
                </a:tc>
                <a:tc>
                  <a:txBody>
                    <a:bodyPr/>
                    <a:lstStyle/>
                    <a:p>
                      <a:r>
                        <a:rPr sz="1725" b="0">
                          <a:solidFill>
                            <a:srgbClr val="262626"/>
                          </a:solidFill>
                          <a:latin typeface="Arial"/>
                          <a:ea typeface="Arial"/>
                          <a:cs typeface="Arial"/>
                        </a:rPr>
                        <a:t>Field controls, local cache and queued work</a:t>
                      </a:r>
                    </a:p>
                  </a:txBody>
                  <a:tcPr marL="91440" marR="91440" marT="45720" marB="45720">
                    <a:solidFill>
                      <a:srgbClr val="FFFFFF"/>
                    </a:solidFill>
                  </a:tcPr>
                </a:tc>
              </a:tr>
              <a:tr h="555625">
                <a:tc>
                  <a:txBody>
                    <a:bodyPr/>
                    <a:lstStyle/>
                    <a:p>
                      <a:r>
                        <a:rPr sz="1725" b="0">
                          <a:solidFill>
                            <a:srgbClr val="262626"/>
                          </a:solidFill>
                          <a:latin typeface="Arial"/>
                          <a:ea typeface="Arial"/>
                          <a:cs typeface="Arial"/>
                        </a:rPr>
                        <a:t>Browser console</a:t>
                      </a:r>
                    </a:p>
                  </a:txBody>
                  <a:tcPr marL="91440" marR="91440" marT="45720" marB="45720">
                    <a:solidFill>
                      <a:srgbClr val="FFFFFF"/>
                    </a:solidFill>
                  </a:tcPr>
                </a:tc>
                <a:tc>
                  <a:txBody>
                    <a:bodyPr/>
                    <a:lstStyle/>
                    <a:p>
                      <a:r>
                        <a:rPr sz="1725" b="0">
                          <a:solidFill>
                            <a:srgbClr val="262626"/>
                          </a:solidFill>
                          <a:latin typeface="Arial"/>
                          <a:ea typeface="Arial"/>
                          <a:cs typeface="Arial"/>
                        </a:rPr>
                        <a:t>React, TypeScript, IndexedDB</a:t>
                      </a:r>
                    </a:p>
                  </a:txBody>
                  <a:tcPr marL="91440" marR="91440" marT="45720" marB="45720">
                    <a:solidFill>
                      <a:srgbClr val="FFFFFF"/>
                    </a:solidFill>
                  </a:tcPr>
                </a:tc>
                <a:tc>
                  <a:txBody>
                    <a:bodyPr/>
                    <a:lstStyle/>
                    <a:p>
                      <a:r>
                        <a:rPr sz="1725" b="0">
                          <a:solidFill>
                            <a:srgbClr val="262626"/>
                          </a:solidFill>
                          <a:latin typeface="Arial"/>
                          <a:ea typeface="Arial"/>
                          <a:cs typeface="Arial"/>
                        </a:rPr>
                        <a:t>Communication, operations and administration</a:t>
                      </a:r>
                    </a:p>
                  </a:txBody>
                  <a:tcPr marL="91440" marR="91440" marT="45720" marB="45720">
                    <a:solidFill>
                      <a:srgbClr val="FFFFFF"/>
                    </a:solidFill>
                  </a:tcPr>
                </a:tc>
              </a:tr>
              <a:tr h="555625">
                <a:tc>
                  <a:txBody>
                    <a:bodyPr/>
                    <a:lstStyle/>
                    <a:p>
                      <a:r>
                        <a:rPr sz="1725" b="0">
                          <a:solidFill>
                            <a:srgbClr val="262626"/>
                          </a:solidFill>
                          <a:latin typeface="Arial"/>
                          <a:ea typeface="Arial"/>
                          <a:cs typeface="Arial"/>
                        </a:rPr>
                        <a:t>API and storage</a:t>
                      </a:r>
                    </a:p>
                  </a:txBody>
                  <a:tcPr marL="91440" marR="91440" marT="45720" marB="45720">
                    <a:solidFill>
                      <a:srgbClr val="FFFFFF"/>
                    </a:solidFill>
                  </a:tcPr>
                </a:tc>
                <a:tc>
                  <a:txBody>
                    <a:bodyPr/>
                    <a:lstStyle/>
                    <a:p>
                      <a:r>
                        <a:rPr sz="1725" b="0">
                          <a:solidFill>
                            <a:srgbClr val="262626"/>
                          </a:solidFill>
                          <a:latin typeface="Arial"/>
                          <a:ea typeface="Arial"/>
                          <a:cs typeface="Arial"/>
                        </a:rPr>
                        <a:t>Fastify, WebSocket, SQLite</a:t>
                      </a:r>
                    </a:p>
                  </a:txBody>
                  <a:tcPr marL="91440" marR="91440" marT="45720" marB="45720">
                    <a:solidFill>
                      <a:srgbClr val="FFFFFF"/>
                    </a:solidFill>
                  </a:tcPr>
                </a:tc>
                <a:tc>
                  <a:txBody>
                    <a:bodyPr/>
                    <a:lstStyle/>
                    <a:p>
                      <a:r>
                        <a:rPr sz="1725" b="0">
                          <a:solidFill>
                            <a:srgbClr val="262626"/>
                          </a:solidFill>
                          <a:latin typeface="Arial"/>
                          <a:ea typeface="Arial"/>
                          <a:cs typeface="Arial"/>
                        </a:rPr>
                        <a:t>Approval, permissions, issue state and history</a:t>
                      </a:r>
                    </a:p>
                  </a:txBody>
                  <a:tcPr marL="91440" marR="91440" marT="45720" marB="45720">
                    <a:solidFill>
                      <a:srgbClr val="FFFFFF"/>
                    </a:solidFill>
                  </a:tcPr>
                </a:tc>
              </a:tr>
              <a:tr h="555625">
                <a:tc>
                  <a:txBody>
                    <a:bodyPr/>
                    <a:lstStyle/>
                    <a:p>
                      <a:r>
                        <a:rPr sz="1725" b="0">
                          <a:solidFill>
                            <a:srgbClr val="262626"/>
                          </a:solidFill>
                          <a:latin typeface="Arial"/>
                          <a:ea typeface="Arial"/>
                          <a:cs typeface="Arial"/>
                        </a:rPr>
                        <a:t>Live audio / video</a:t>
                      </a:r>
                    </a:p>
                  </a:txBody>
                  <a:tcPr marL="91440" marR="91440" marT="45720" marB="45720">
                    <a:solidFill>
                      <a:srgbClr val="FFFFFF"/>
                    </a:solidFill>
                  </a:tcPr>
                </a:tc>
                <a:tc>
                  <a:txBody>
                    <a:bodyPr/>
                    <a:lstStyle/>
                    <a:p>
                      <a:r>
                        <a:rPr sz="1725" b="0">
                          <a:solidFill>
                            <a:srgbClr val="262626"/>
                          </a:solidFill>
                          <a:latin typeface="Arial"/>
                          <a:ea typeface="Arial"/>
                          <a:cs typeface="Arial"/>
                        </a:rPr>
                        <a:t>Self-hosted LiveKit</a:t>
                      </a:r>
                    </a:p>
                  </a:txBody>
                  <a:tcPr marL="91440" marR="91440" marT="45720" marB="45720">
                    <a:solidFill>
                      <a:srgbClr val="FFFFFF"/>
                    </a:solidFill>
                  </a:tcPr>
                </a:tc>
                <a:tc>
                  <a:txBody>
                    <a:bodyPr/>
                    <a:lstStyle/>
                    <a:p>
                      <a:r>
                        <a:rPr sz="1725" b="0">
                          <a:solidFill>
                            <a:srgbClr val="262626"/>
                          </a:solidFill>
                          <a:latin typeface="Arial"/>
                          <a:ea typeface="Arial"/>
                          <a:cs typeface="Arial"/>
                        </a:rPr>
                        <a:t>PTT, broadcasts and private calls</a:t>
                      </a:r>
                    </a:p>
                  </a:txBody>
                  <a:tcPr marL="91440" marR="91440" marT="45720" marB="45720">
                    <a:solidFill>
                      <a:srgbClr val="FFFFFF"/>
                    </a:solidFill>
                  </a:tcPr>
                </a:tc>
              </a:tr>
              <a:tr h="555625">
                <a:tc>
                  <a:txBody>
                    <a:bodyPr/>
                    <a:lstStyle/>
                    <a:p>
                      <a:r>
                        <a:rPr sz="1725" b="0">
                          <a:solidFill>
                            <a:srgbClr val="262626"/>
                          </a:solidFill>
                          <a:latin typeface="Arial"/>
                          <a:ea typeface="Arial"/>
                          <a:cs typeface="Arial"/>
                        </a:rPr>
                        <a:t>Speech and failover</a:t>
                      </a:r>
                    </a:p>
                  </a:txBody>
                  <a:tcPr marL="91440" marR="91440" marT="45720" marB="45720">
                    <a:solidFill>
                      <a:srgbClr val="FFFFFF"/>
                    </a:solidFill>
                  </a:tcPr>
                </a:tc>
                <a:tc>
                  <a:txBody>
                    <a:bodyPr/>
                    <a:lstStyle/>
                    <a:p>
                      <a:r>
                        <a:rPr sz="1725" b="0">
                          <a:solidFill>
                            <a:srgbClr val="262626"/>
                          </a:solidFill>
                          <a:latin typeface="Arial"/>
                          <a:ea typeface="Arial"/>
                          <a:cs typeface="Arial"/>
                        </a:rPr>
                        <a:t>Vosk, FFmpeg, Nearby Connections</a:t>
                      </a:r>
                    </a:p>
                  </a:txBody>
                  <a:tcPr marL="91440" marR="91440" marT="45720" marB="45720">
                    <a:solidFill>
                      <a:srgbClr val="FFFFFF"/>
                    </a:solidFill>
                  </a:tcPr>
                </a:tc>
                <a:tc>
                  <a:txBody>
                    <a:bodyPr/>
                    <a:lstStyle/>
                    <a:p>
                      <a:r>
                        <a:rPr sz="1725" b="0">
                          <a:solidFill>
                            <a:srgbClr val="262626"/>
                          </a:solidFill>
                          <a:latin typeface="Arial"/>
                          <a:ea typeface="Arial"/>
                          <a:cs typeface="Arial"/>
                        </a:rPr>
                        <a:t>Local English recognition and direct Android links</a:t>
                      </a:r>
                    </a:p>
                  </a:txBody>
                  <a:tcPr marL="91440" marR="91440" marT="45720" marB="45720">
                    <a:solidFill>
                      <a:srgbClr val="FFFFFF"/>
                    </a:solidFill>
                  </a:tcPr>
                </a:tc>
              </a:tr>
            </a:tbl>
          </a:graphicData>
        </a:graphic>
      </p:graphicFrame>
      <p:sp>
        <p:nvSpPr>
          <p:cNvPr id="11" name="Architecture transport detail">
            <a:extLst xmlns:a="http://schemas.openxmlformats.org/drawingml/2006/main">
              <a:ext uri="{FF2B5EF4-FFF2-40B4-BE49-F238E27FC236}">
                <a16:creationId xmlns:a16="http://schemas.microsoft.com/office/drawing/2014/main" id="{417445AF-1949-4ADE-84E3-CBE7D266EB02}"/>
              </a:ext>
            </a:extLst>
          </p:cNvPr>
          <p:cNvSpPr>
            <a:spLocks xmlns:a="http://schemas.openxmlformats.org/drawingml/2006/main" noGrp="1"/>
          </p:cNvSpPr>
          <p:nvPr/>
        </p:nvSpPr>
        <p:spPr>
          <a:xfrm xmlns:a="http://schemas.openxmlformats.org/drawingml/2006/main">
            <a:off x="685800" y="6057900"/>
            <a:ext cx="10715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55555"/>
                </a:solidFill>
                <a:latin typeface="Arial"/>
                <a:ea typeface="Arial"/>
                <a:cs typeface="Arial"/>
              </a:defRPr>
            </a:defPPr>
          </a:lstStyle>
          <a:p xmlns:a="http://schemas.openxmlformats.org/drawingml/2006/main">
            <a:pPr algn="l">
              <a:buNone/>
              <a:defRPr sz="1725" b="0">
                <a:solidFill>
                  <a:srgbClr val="555555"/>
                </a:solidFill>
                <a:latin typeface="Arial"/>
                <a:ea typeface="Arial"/>
                <a:cs typeface="Arial"/>
              </a:defRPr>
            </a:pPr>
            <a:r>
              <a:rPr sz="1725" b="0">
                <a:solidFill>
                  <a:srgbClr val="555555"/>
                </a:solidFill>
                <a:latin typeface="Arial"/>
                <a:ea typeface="Arial"/>
                <a:cs typeface="Arial"/>
              </a:rPr>
              <a:t>The organisation hosts the API, database, attachments and LiveKit media service.</a:t>
            </a:r>
          </a:p>
          <a:p xmlns:a="http://schemas.openxmlformats.org/drawingml/2006/main">
            <a:pPr algn="l">
              <a:buNone/>
              <a:defRPr sz="1725" b="0">
                <a:solidFill>
                  <a:srgbClr val="555555"/>
                </a:solidFill>
                <a:latin typeface="Arial"/>
                <a:ea typeface="Arial"/>
                <a:cs typeface="Arial"/>
              </a:defRPr>
            </a:pPr>
            <a:r>
              <a:rPr sz="1725" b="0">
                <a:solidFill>
                  <a:srgbClr val="555555"/>
                </a:solidFill>
                <a:latin typeface="Arial"/>
                <a:ea typeface="Arial"/>
                <a:cs typeface="Arial"/>
              </a:rPr>
              <a:t>Nearby provides direct Android fallback. No cloud chat or speech API is required.</a:t>
            </a:r>
          </a:p>
        </p:txBody>
      </p:sp>
    </p:spTree>
    <p:extLst>
      <p:ext uri="{BB962C8B-B14F-4D97-AF65-F5344CB8AC3E}">
        <p14:creationId xmlns:p14="http://schemas.microsoft.com/office/powerpoint/2010/main" val="174725806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0F2DF2F-EDDE-4D7B-A639-0DC74E392EC5}"/>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FEF85BF1-3784-3E72-39B3-B468FB556DF3}"/>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13316265-FDCD-424D-9B74-36B4BAF3696D}"/>
              </a:ext>
            </a:extLst>
          </p:cNvPr>
          <p:cNvPicPr>
            <a:picLocks xmlns:a="http://schemas.openxmlformats.org/drawingml/2006/main" noChangeAspect="1"/>
          </p:cNvPicPr>
          <p:nvPr/>
        </p:nvPicPr>
        <p:blipFill>
          <a:blip xmlns:r="http://schemas.openxmlformats.org/officeDocument/2006/relationships" xmlns:a="http://schemas.openxmlformats.org/drawingml/2006/main" r:embed="R2f23ab26867d48a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8815348A-CFB1-4791-AD21-B184A8763030}"/>
              </a:ext>
            </a:extLst>
          </p:cNvPr>
          <p:cNvPicPr>
            <a:picLocks xmlns:a="http://schemas.openxmlformats.org/drawingml/2006/main" noChangeAspect="1"/>
          </p:cNvPicPr>
          <p:nvPr/>
        </p:nvPicPr>
        <p:blipFill>
          <a:blip xmlns:r="http://schemas.openxmlformats.org/officeDocument/2006/relationships" xmlns:a="http://schemas.openxmlformats.org/drawingml/2006/main" r:embed="Rfd932f91b656493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F951BB3C-E90B-A26C-3140-E8CE949EE2D5}"/>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Key Features and Implementation</a:t>
            </a:r>
          </a:p>
        </p:txBody>
      </p:sp>
      <p:sp>
        <p:nvSpPr>
          <p:cNvPr id="9" name="Feature headline">
            <a:extLst xmlns:a="http://schemas.openxmlformats.org/drawingml/2006/main">
              <a:ext uri="{FF2B5EF4-FFF2-40B4-BE49-F238E27FC236}">
                <a16:creationId xmlns:a16="http://schemas.microsoft.com/office/drawing/2014/main" id="{F109BCBE-D66E-444C-AFFE-D100566532EE}"/>
              </a:ext>
            </a:extLst>
          </p:cNvPr>
          <p:cNvSpPr>
            <a:spLocks xmlns:a="http://schemas.openxmlformats.org/drawingml/2006/main" noGrp="1"/>
          </p:cNvSpPr>
          <p:nvPr/>
        </p:nvSpPr>
        <p:spPr>
          <a:xfrm xmlns:a="http://schemas.openxmlformats.org/drawingml/2006/main">
            <a:off x="685800" y="12287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buNone/>
              <a:defRPr sz="3000" b="1">
                <a:solidFill>
                  <a:srgbClr val="262626"/>
                </a:solidFill>
                <a:latin typeface="Arial"/>
                <a:ea typeface="Arial"/>
                <a:cs typeface="Arial"/>
              </a:defRPr>
            </a:pPr>
            <a:r>
              <a:rPr sz="3000" b="1">
                <a:solidFill>
                  <a:srgbClr val="262626"/>
                </a:solidFill>
                <a:latin typeface="Arial"/>
                <a:ea typeface="Arial"/>
                <a:cs typeface="Arial"/>
              </a:rPr>
              <a:t>Implemented features through version 0.3.0</a:t>
            </a:r>
          </a:p>
        </p:txBody>
      </p:sp>
      <p:sp>
        <p:nvSpPr>
          <p:cNvPr id="10" name="Feature heading 0">
            <a:extLst xmlns:a="http://schemas.openxmlformats.org/drawingml/2006/main">
              <a:ext uri="{FF2B5EF4-FFF2-40B4-BE49-F238E27FC236}">
                <a16:creationId xmlns:a16="http://schemas.microsoft.com/office/drawing/2014/main" id="{C494401E-5F46-4699-8E58-67DEDEBB90C0}"/>
              </a:ext>
            </a:extLst>
          </p:cNvPr>
          <p:cNvSpPr>
            <a:spLocks xmlns:a="http://schemas.openxmlformats.org/drawingml/2006/main" noGrp="1"/>
          </p:cNvSpPr>
          <p:nvPr/>
        </p:nvSpPr>
        <p:spPr>
          <a:xfrm xmlns:a="http://schemas.openxmlformats.org/drawingml/2006/main">
            <a:off x="685800" y="2333625"/>
            <a:ext cx="5019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62626"/>
                </a:solidFill>
                <a:latin typeface="Arial"/>
                <a:ea typeface="Arial"/>
                <a:cs typeface="Arial"/>
              </a:defRPr>
            </a:defPPr>
          </a:lstStyle>
          <a:p xmlns:a="http://schemas.openxmlformats.org/drawingml/2006/main">
            <a:pPr algn="l">
              <a:buNone/>
              <a:defRPr sz="2100" b="1">
                <a:solidFill>
                  <a:srgbClr val="262626"/>
                </a:solidFill>
                <a:latin typeface="Arial"/>
                <a:ea typeface="Arial"/>
                <a:cs typeface="Arial"/>
              </a:defRPr>
            </a:pPr>
            <a:r>
              <a:rPr sz="2100" b="1">
                <a:solidFill>
                  <a:srgbClr val="262626"/>
                </a:solidFill>
                <a:latin typeface="Arial"/>
                <a:ea typeface="Arial"/>
                <a:cs typeface="Arial"/>
              </a:rPr>
              <a:t>Live communication</a:t>
            </a:r>
          </a:p>
        </p:txBody>
      </p:sp>
      <p:sp>
        <p:nvSpPr>
          <p:cNvPr id="11" name="Feature description 0">
            <a:extLst xmlns:a="http://schemas.openxmlformats.org/drawingml/2006/main">
              <a:ext uri="{FF2B5EF4-FFF2-40B4-BE49-F238E27FC236}">
                <a16:creationId xmlns:a16="http://schemas.microsoft.com/office/drawing/2014/main" id="{ECA8C024-3E0F-4BCE-BCBC-588BC703942A}"/>
              </a:ext>
            </a:extLst>
          </p:cNvPr>
          <p:cNvSpPr>
            <a:spLocks xmlns:a="http://schemas.openxmlformats.org/drawingml/2006/main" noGrp="1"/>
          </p:cNvSpPr>
          <p:nvPr/>
        </p:nvSpPr>
        <p:spPr>
          <a:xfrm xmlns:a="http://schemas.openxmlformats.org/drawingml/2006/main">
            <a:off x="685800" y="2752725"/>
            <a:ext cx="5019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buNone/>
              <a:defRPr sz="1875" b="0">
                <a:solidFill>
                  <a:srgbClr val="262626"/>
                </a:solidFill>
                <a:latin typeface="Arial"/>
                <a:ea typeface="Arial"/>
                <a:cs typeface="Arial"/>
              </a:defRPr>
            </a:pPr>
            <a:r>
              <a:rPr sz="1875" b="0">
                <a:solidFill>
                  <a:srgbClr val="262626"/>
                </a:solidFill>
                <a:latin typeface="Arial"/>
                <a:ea typeface="Arial"/>
                <a:cs typeface="Arial"/>
              </a:rPr>
              <a:t>Hold-to-talk with a 30-second limit, duty-admin exchanges, targeted broadcasts and private voice/video calls.</a:t>
            </a:r>
          </a:p>
        </p:txBody>
      </p:sp>
      <p:sp>
        <p:nvSpPr>
          <p:cNvPr id="12" name="Feature heading 1">
            <a:extLst xmlns:a="http://schemas.openxmlformats.org/drawingml/2006/main">
              <a:ext uri="{FF2B5EF4-FFF2-40B4-BE49-F238E27FC236}">
                <a16:creationId xmlns:a16="http://schemas.microsoft.com/office/drawing/2014/main" id="{924F21CC-829D-49BE-B742-B6D67A16F544}"/>
              </a:ext>
            </a:extLst>
          </p:cNvPr>
          <p:cNvSpPr>
            <a:spLocks xmlns:a="http://schemas.openxmlformats.org/drawingml/2006/main" noGrp="1"/>
          </p:cNvSpPr>
          <p:nvPr/>
        </p:nvSpPr>
        <p:spPr>
          <a:xfrm xmlns:a="http://schemas.openxmlformats.org/drawingml/2006/main">
            <a:off x="685800" y="3686175"/>
            <a:ext cx="5019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62626"/>
                </a:solidFill>
                <a:latin typeface="Arial"/>
                <a:ea typeface="Arial"/>
                <a:cs typeface="Arial"/>
              </a:defRPr>
            </a:defPPr>
          </a:lstStyle>
          <a:p xmlns:a="http://schemas.openxmlformats.org/drawingml/2006/main">
            <a:pPr algn="l">
              <a:buNone/>
              <a:defRPr sz="2100" b="1">
                <a:solidFill>
                  <a:srgbClr val="262626"/>
                </a:solidFill>
                <a:latin typeface="Arial"/>
                <a:ea typeface="Arial"/>
                <a:cs typeface="Arial"/>
              </a:defRPr>
            </a:pPr>
            <a:r>
              <a:rPr sz="2100" b="1">
                <a:solidFill>
                  <a:srgbClr val="262626"/>
                </a:solidFill>
                <a:latin typeface="Arial"/>
                <a:ea typeface="Arial"/>
                <a:cs typeface="Arial"/>
              </a:rPr>
              <a:t>Chat, media and history</a:t>
            </a:r>
          </a:p>
        </p:txBody>
      </p:sp>
      <p:sp>
        <p:nvSpPr>
          <p:cNvPr id="13" name="Feature description 1">
            <a:extLst xmlns:a="http://schemas.openxmlformats.org/drawingml/2006/main">
              <a:ext uri="{FF2B5EF4-FFF2-40B4-BE49-F238E27FC236}">
                <a16:creationId xmlns:a16="http://schemas.microsoft.com/office/drawing/2014/main" id="{3B08776D-CE20-4DFC-AD90-6A43D64FCE9E}"/>
              </a:ext>
            </a:extLst>
          </p:cNvPr>
          <p:cNvSpPr>
            <a:spLocks xmlns:a="http://schemas.openxmlformats.org/drawingml/2006/main" noGrp="1"/>
          </p:cNvSpPr>
          <p:nvPr/>
        </p:nvSpPr>
        <p:spPr>
          <a:xfrm xmlns:a="http://schemas.openxmlformats.org/drawingml/2006/main">
            <a:off x="685800" y="4105275"/>
            <a:ext cx="5019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buNone/>
              <a:defRPr sz="1875" b="0">
                <a:solidFill>
                  <a:srgbClr val="262626"/>
                </a:solidFill>
                <a:latin typeface="Arial"/>
                <a:ea typeface="Arial"/>
                <a:cs typeface="Arial"/>
              </a:defRPr>
            </a:pPr>
            <a:r>
              <a:rPr sz="1875" b="0">
                <a:solidFill>
                  <a:srgbClr val="262626"/>
                </a:solidFill>
                <a:latin typeface="Arial"/>
                <a:ea typeface="Arial"/>
                <a:cs typeface="Arial"/>
              </a:rPr>
              <a:t>Text, photos, videos and voice notes, with saved PTT replay, delivery states and personal archive.</a:t>
            </a:r>
          </a:p>
        </p:txBody>
      </p:sp>
      <p:sp>
        <p:nvSpPr>
          <p:cNvPr id="14" name="Feature heading 2">
            <a:extLst xmlns:a="http://schemas.openxmlformats.org/drawingml/2006/main">
              <a:ext uri="{FF2B5EF4-FFF2-40B4-BE49-F238E27FC236}">
                <a16:creationId xmlns:a16="http://schemas.microsoft.com/office/drawing/2014/main" id="{B2199187-ADB6-4970-9D73-4C1E185854A3}"/>
              </a:ext>
            </a:extLst>
          </p:cNvPr>
          <p:cNvSpPr>
            <a:spLocks xmlns:a="http://schemas.openxmlformats.org/drawingml/2006/main" noGrp="1"/>
          </p:cNvSpPr>
          <p:nvPr/>
        </p:nvSpPr>
        <p:spPr>
          <a:xfrm xmlns:a="http://schemas.openxmlformats.org/drawingml/2006/main">
            <a:off x="685800" y="5038725"/>
            <a:ext cx="5019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62626"/>
                </a:solidFill>
                <a:latin typeface="Arial"/>
                <a:ea typeface="Arial"/>
                <a:cs typeface="Arial"/>
              </a:defRPr>
            </a:defPPr>
          </a:lstStyle>
          <a:p xmlns:a="http://schemas.openxmlformats.org/drawingml/2006/main">
            <a:pPr algn="l">
              <a:buNone/>
              <a:defRPr sz="2100" b="1">
                <a:solidFill>
                  <a:srgbClr val="262626"/>
                </a:solidFill>
                <a:latin typeface="Arial"/>
                <a:ea typeface="Arial"/>
                <a:cs typeface="Arial"/>
              </a:defRPr>
            </a:pPr>
            <a:r>
              <a:rPr sz="2100" b="1">
                <a:solidFill>
                  <a:srgbClr val="262626"/>
                </a:solidFill>
                <a:latin typeface="Arial"/>
                <a:ea typeface="Arial"/>
                <a:cs typeface="Arial"/>
              </a:rPr>
              <a:t>Venue operations</a:t>
            </a:r>
          </a:p>
        </p:txBody>
      </p:sp>
      <p:sp>
        <p:nvSpPr>
          <p:cNvPr id="15" name="Feature description 2">
            <a:extLst xmlns:a="http://schemas.openxmlformats.org/drawingml/2006/main">
              <a:ext uri="{FF2B5EF4-FFF2-40B4-BE49-F238E27FC236}">
                <a16:creationId xmlns:a16="http://schemas.microsoft.com/office/drawing/2014/main" id="{CF6D5CC9-113F-4958-B251-80A1894A9832}"/>
              </a:ext>
            </a:extLst>
          </p:cNvPr>
          <p:cNvSpPr>
            <a:spLocks xmlns:a="http://schemas.openxmlformats.org/drawingml/2006/main" noGrp="1"/>
          </p:cNvSpPr>
          <p:nvPr/>
        </p:nvSpPr>
        <p:spPr>
          <a:xfrm xmlns:a="http://schemas.openxmlformats.org/drawingml/2006/main">
            <a:off x="685800" y="5457825"/>
            <a:ext cx="5019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buNone/>
              <a:defRPr sz="1875" b="0">
                <a:solidFill>
                  <a:srgbClr val="262626"/>
                </a:solidFill>
                <a:latin typeface="Arial"/>
                <a:ea typeface="Arial"/>
                <a:cs typeface="Arial"/>
              </a:defRPr>
            </a:pPr>
            <a:r>
              <a:rPr sz="1875" b="0">
                <a:solidFill>
                  <a:srgbClr val="262626"/>
                </a:solidFill>
                <a:latin typeface="Arial"/>
                <a:ea typeface="Arial"/>
                <a:cs typeface="Arial"/>
              </a:rPr>
              <a:t>Floor plans, named zones, staff check-ins and issue claims, replies, reassignment and resolution.</a:t>
            </a:r>
          </a:p>
        </p:txBody>
      </p:sp>
      <p:sp>
        <p:nvSpPr>
          <p:cNvPr id="16" name="Feature heading 3">
            <a:extLst xmlns:a="http://schemas.openxmlformats.org/drawingml/2006/main">
              <a:ext uri="{FF2B5EF4-FFF2-40B4-BE49-F238E27FC236}">
                <a16:creationId xmlns:a16="http://schemas.microsoft.com/office/drawing/2014/main" id="{D38E5C70-5E34-46B3-9A88-42B2C1B35E7B}"/>
              </a:ext>
            </a:extLst>
          </p:cNvPr>
          <p:cNvSpPr>
            <a:spLocks xmlns:a="http://schemas.openxmlformats.org/drawingml/2006/main" noGrp="1"/>
          </p:cNvSpPr>
          <p:nvPr/>
        </p:nvSpPr>
        <p:spPr>
          <a:xfrm xmlns:a="http://schemas.openxmlformats.org/drawingml/2006/main">
            <a:off x="6372225" y="2333625"/>
            <a:ext cx="5019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62626"/>
                </a:solidFill>
                <a:latin typeface="Arial"/>
                <a:ea typeface="Arial"/>
                <a:cs typeface="Arial"/>
              </a:defRPr>
            </a:defPPr>
          </a:lstStyle>
          <a:p xmlns:a="http://schemas.openxmlformats.org/drawingml/2006/main">
            <a:pPr algn="l">
              <a:buNone/>
              <a:defRPr sz="2100" b="1">
                <a:solidFill>
                  <a:srgbClr val="262626"/>
                </a:solidFill>
                <a:latin typeface="Arial"/>
                <a:ea typeface="Arial"/>
                <a:cs typeface="Arial"/>
              </a:defRPr>
            </a:pPr>
            <a:r>
              <a:rPr sz="2100" b="1">
                <a:solidFill>
                  <a:srgbClr val="262626"/>
                </a:solidFill>
                <a:latin typeface="Arial"/>
                <a:ea typeface="Arial"/>
                <a:cs typeface="Arial"/>
              </a:rPr>
              <a:t>Offline continuity</a:t>
            </a:r>
          </a:p>
        </p:txBody>
      </p:sp>
      <p:sp>
        <p:nvSpPr>
          <p:cNvPr id="17" name="Feature description 3">
            <a:extLst xmlns:a="http://schemas.openxmlformats.org/drawingml/2006/main">
              <a:ext uri="{FF2B5EF4-FFF2-40B4-BE49-F238E27FC236}">
                <a16:creationId xmlns:a16="http://schemas.microsoft.com/office/drawing/2014/main" id="{564F1F17-AA55-4264-AAAD-3AFCC262995E}"/>
              </a:ext>
            </a:extLst>
          </p:cNvPr>
          <p:cNvSpPr>
            <a:spLocks xmlns:a="http://schemas.openxmlformats.org/drawingml/2006/main" noGrp="1"/>
          </p:cNvSpPr>
          <p:nvPr/>
        </p:nvSpPr>
        <p:spPr>
          <a:xfrm xmlns:a="http://schemas.openxmlformats.org/drawingml/2006/main">
            <a:off x="6372225" y="2752725"/>
            <a:ext cx="5019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buNone/>
              <a:defRPr sz="1875" b="0">
                <a:solidFill>
                  <a:srgbClr val="262626"/>
                </a:solidFill>
                <a:latin typeface="Arial"/>
                <a:ea typeface="Arial"/>
                <a:cs typeface="Arial"/>
              </a:defRPr>
            </a:pPr>
            <a:r>
              <a:rPr sz="1875" b="0">
                <a:solidFill>
                  <a:srgbClr val="262626"/>
                </a:solidFill>
                <a:latin typeface="Arial"/>
                <a:ea typeface="Arial"/>
                <a:cs typeface="Arial"/>
              </a:rPr>
              <a:t>Local queues and direct Nearby TALK/media on approved Android phones, with later server sync.</a:t>
            </a:r>
          </a:p>
        </p:txBody>
      </p:sp>
      <p:sp>
        <p:nvSpPr>
          <p:cNvPr id="18" name="Feature heading 4">
            <a:extLst xmlns:a="http://schemas.openxmlformats.org/drawingml/2006/main">
              <a:ext uri="{FF2B5EF4-FFF2-40B4-BE49-F238E27FC236}">
                <a16:creationId xmlns:a16="http://schemas.microsoft.com/office/drawing/2014/main" id="{E8580396-55F4-4E9B-BEBC-87B3C18DD17C}"/>
              </a:ext>
            </a:extLst>
          </p:cNvPr>
          <p:cNvSpPr>
            <a:spLocks xmlns:a="http://schemas.openxmlformats.org/drawingml/2006/main" noGrp="1"/>
          </p:cNvSpPr>
          <p:nvPr/>
        </p:nvSpPr>
        <p:spPr>
          <a:xfrm xmlns:a="http://schemas.openxmlformats.org/drawingml/2006/main">
            <a:off x="6372225" y="3686175"/>
            <a:ext cx="5019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62626"/>
                </a:solidFill>
                <a:latin typeface="Arial"/>
                <a:ea typeface="Arial"/>
                <a:cs typeface="Arial"/>
              </a:defRPr>
            </a:defPPr>
          </a:lstStyle>
          <a:p xmlns:a="http://schemas.openxmlformats.org/drawingml/2006/main">
            <a:pPr algn="l">
              <a:buNone/>
              <a:defRPr sz="2100" b="1">
                <a:solidFill>
                  <a:srgbClr val="262626"/>
                </a:solidFill>
                <a:latin typeface="Arial"/>
                <a:ea typeface="Arial"/>
                <a:cs typeface="Arial"/>
              </a:defRPr>
            </a:pPr>
            <a:r>
              <a:rPr sz="2100" b="1">
                <a:solidFill>
                  <a:srgbClr val="262626"/>
                </a:solidFill>
                <a:latin typeface="Arial"/>
                <a:ea typeface="Arial"/>
                <a:cs typeface="Arial"/>
              </a:rPr>
              <a:t>Local speech tools</a:t>
            </a:r>
          </a:p>
        </p:txBody>
      </p:sp>
      <p:sp>
        <p:nvSpPr>
          <p:cNvPr id="19" name="Feature description 4">
            <a:extLst xmlns:a="http://schemas.openxmlformats.org/drawingml/2006/main">
              <a:ext uri="{FF2B5EF4-FFF2-40B4-BE49-F238E27FC236}">
                <a16:creationId xmlns:a16="http://schemas.microsoft.com/office/drawing/2014/main" id="{59EF45AC-A28A-4FA5-AA50-199B72CD8636}"/>
              </a:ext>
            </a:extLst>
          </p:cNvPr>
          <p:cNvSpPr>
            <a:spLocks xmlns:a="http://schemas.openxmlformats.org/drawingml/2006/main" noGrp="1"/>
          </p:cNvSpPr>
          <p:nvPr/>
        </p:nvSpPr>
        <p:spPr>
          <a:xfrm xmlns:a="http://schemas.openxmlformats.org/drawingml/2006/main">
            <a:off x="6372225" y="4105275"/>
            <a:ext cx="5019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buNone/>
              <a:defRPr sz="1875" b="0">
                <a:solidFill>
                  <a:srgbClr val="262626"/>
                </a:solidFill>
                <a:latin typeface="Arial"/>
                <a:ea typeface="Arial"/>
                <a:cs typeface="Arial"/>
              </a:defRPr>
            </a:pPr>
            <a:r>
              <a:rPr sz="1875" b="0">
                <a:solidFill>
                  <a:srgbClr val="262626"/>
                </a:solidFill>
                <a:latin typeface="Arial"/>
                <a:ea typeface="Arial"/>
                <a:cs typeface="Arial"/>
              </a:rPr>
              <a:t>English transcripts of saved audio and editable offline dictation, without a cloud speech API.</a:t>
            </a:r>
          </a:p>
        </p:txBody>
      </p:sp>
      <p:sp>
        <p:nvSpPr>
          <p:cNvPr id="20" name="Feature heading 5">
            <a:extLst xmlns:a="http://schemas.openxmlformats.org/drawingml/2006/main">
              <a:ext uri="{FF2B5EF4-FFF2-40B4-BE49-F238E27FC236}">
                <a16:creationId xmlns:a16="http://schemas.microsoft.com/office/drawing/2014/main" id="{80FD7D52-6157-4C72-A1C8-FC8BCA1BD3CB}"/>
              </a:ext>
            </a:extLst>
          </p:cNvPr>
          <p:cNvSpPr>
            <a:spLocks xmlns:a="http://schemas.openxmlformats.org/drawingml/2006/main" noGrp="1"/>
          </p:cNvSpPr>
          <p:nvPr/>
        </p:nvSpPr>
        <p:spPr>
          <a:xfrm xmlns:a="http://schemas.openxmlformats.org/drawingml/2006/main">
            <a:off x="6372225" y="5038725"/>
            <a:ext cx="5019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62626"/>
                </a:solidFill>
                <a:latin typeface="Arial"/>
                <a:ea typeface="Arial"/>
                <a:cs typeface="Arial"/>
              </a:defRPr>
            </a:defPPr>
          </a:lstStyle>
          <a:p xmlns:a="http://schemas.openxmlformats.org/drawingml/2006/main">
            <a:pPr algn="l">
              <a:buNone/>
              <a:defRPr sz="2100" b="1">
                <a:solidFill>
                  <a:srgbClr val="262626"/>
                </a:solidFill>
                <a:latin typeface="Arial"/>
                <a:ea typeface="Arial"/>
                <a:cs typeface="Arial"/>
              </a:defRPr>
            </a:pPr>
            <a:r>
              <a:rPr sz="2100" b="1">
                <a:solidFill>
                  <a:srgbClr val="262626"/>
                </a:solidFill>
                <a:latin typeface="Arial"/>
                <a:ea typeface="Arial"/>
                <a:cs typeface="Arial"/>
              </a:rPr>
              <a:t>Admin and field controls</a:t>
            </a:r>
          </a:p>
        </p:txBody>
      </p:sp>
      <p:sp>
        <p:nvSpPr>
          <p:cNvPr id="21" name="Feature description 5">
            <a:extLst xmlns:a="http://schemas.openxmlformats.org/drawingml/2006/main">
              <a:ext uri="{FF2B5EF4-FFF2-40B4-BE49-F238E27FC236}">
                <a16:creationId xmlns:a16="http://schemas.microsoft.com/office/drawing/2014/main" id="{0EA0DBDF-CE04-4E74-BF70-482FAD323CBD}"/>
              </a:ext>
            </a:extLst>
          </p:cNvPr>
          <p:cNvSpPr>
            <a:spLocks xmlns:a="http://schemas.openxmlformats.org/drawingml/2006/main" noGrp="1"/>
          </p:cNvSpPr>
          <p:nvPr/>
        </p:nvSpPr>
        <p:spPr>
          <a:xfrm xmlns:a="http://schemas.openxmlformats.org/drawingml/2006/main">
            <a:off x="6372225" y="5457825"/>
            <a:ext cx="5019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buNone/>
              <a:defRPr sz="1875" b="0">
                <a:solidFill>
                  <a:srgbClr val="262626"/>
                </a:solidFill>
                <a:latin typeface="Arial"/>
                <a:ea typeface="Arial"/>
                <a:cs typeface="Arial"/>
              </a:defRPr>
            </a:pPr>
            <a:r>
              <a:rPr sz="1875" b="0">
                <a:solidFill>
                  <a:srgbClr val="262626"/>
                </a:solidFill>
                <a:latin typeface="Arial"/>
                <a:ea typeface="Arial"/>
                <a:cs typeface="Arial"/>
              </a:rPr>
              <a:t>Approve accounts/devices, manage channels and view presence. Optional hardware PTT and Pocket Mode.</a:t>
            </a:r>
          </a:p>
        </p:txBody>
      </p:sp>
      <p:sp>
        <p:nvSpPr>
          <p:cNvPr id="22" name="Feature scope">
            <a:extLst xmlns:a="http://schemas.openxmlformats.org/drawingml/2006/main">
              <a:ext uri="{FF2B5EF4-FFF2-40B4-BE49-F238E27FC236}">
                <a16:creationId xmlns:a16="http://schemas.microsoft.com/office/drawing/2014/main" id="{FE6753E3-E42F-4459-8BB2-D95D8D60AF4A}"/>
              </a:ext>
            </a:extLst>
          </p:cNvPr>
          <p:cNvSpPr>
            <a:spLocks xmlns:a="http://schemas.openxmlformats.org/drawingml/2006/main" noGrp="1"/>
          </p:cNvSpPr>
          <p:nvPr/>
        </p:nvSpPr>
        <p:spPr>
          <a:xfrm xmlns:a="http://schemas.openxmlformats.org/drawingml/2006/main">
            <a:off x="685800" y="6429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666666"/>
                </a:solidFill>
                <a:latin typeface="Arial"/>
                <a:ea typeface="Arial"/>
                <a:cs typeface="Arial"/>
              </a:defRPr>
            </a:defPPr>
          </a:lstStyle>
          <a:p xmlns:a="http://schemas.openxmlformats.org/drawingml/2006/main">
            <a:pPr algn="l">
              <a:buNone/>
              <a:defRPr sz="1575" b="0">
                <a:solidFill>
                  <a:srgbClr val="666666"/>
                </a:solidFill>
                <a:latin typeface="Arial"/>
                <a:ea typeface="Arial"/>
                <a:cs typeface="Arial"/>
              </a:defRPr>
            </a:pPr>
            <a:r>
              <a:rPr sz="1575" b="0">
                <a:solidFill>
                  <a:srgbClr val="666666"/>
                </a:solidFill>
                <a:latin typeface="Arial"/>
                <a:ea typeface="Arial"/>
                <a:cs typeface="Arial"/>
              </a:rPr>
              <a:t>The backend and browser also support volunteers in multiple operational channels.</a:t>
            </a:r>
          </a:p>
        </p:txBody>
      </p:sp>
    </p:spTree>
    <p:extLst>
      <p:ext uri="{BB962C8B-B14F-4D97-AF65-F5344CB8AC3E}">
        <p14:creationId xmlns:p14="http://schemas.microsoft.com/office/powerpoint/2010/main" val="9239354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011611-D6DF-8026-ADC6-44DEC249F833}"/>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A3628315-6695-9ADA-0D7E-6837BF58D468}"/>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135E8116-8B47-4F53-8799-F21DF6BA6C56}"/>
              </a:ext>
            </a:extLst>
          </p:cNvPr>
          <p:cNvPicPr>
            <a:picLocks xmlns:a="http://schemas.openxmlformats.org/drawingml/2006/main" noChangeAspect="1"/>
          </p:cNvPicPr>
          <p:nvPr/>
        </p:nvPicPr>
        <p:blipFill>
          <a:blip xmlns:r="http://schemas.openxmlformats.org/officeDocument/2006/relationships" xmlns:a="http://schemas.openxmlformats.org/drawingml/2006/main" r:embed="R555c7e2bace04fb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3DB4F216-92B6-4B51-A00A-0B3019DC6C9B}"/>
              </a:ext>
            </a:extLst>
          </p:cNvPr>
          <p:cNvPicPr>
            <a:picLocks xmlns:a="http://schemas.openxmlformats.org/drawingml/2006/main" noChangeAspect="1"/>
          </p:cNvPicPr>
          <p:nvPr/>
        </p:nvPicPr>
        <p:blipFill>
          <a:blip xmlns:r="http://schemas.openxmlformats.org/officeDocument/2006/relationships" xmlns:a="http://schemas.openxmlformats.org/drawingml/2006/main" r:embed="R20a290731f9f4fd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60FC4D7B-8C51-628B-22F4-69821D1FBAE9}"/>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Live Demo</a:t>
            </a:r>
          </a:p>
        </p:txBody>
      </p:sp>
      <p:sp>
        <p:nvSpPr>
          <p:cNvPr id="9" name="Demo headline">
            <a:extLst xmlns:a="http://schemas.openxmlformats.org/drawingml/2006/main">
              <a:ext uri="{FF2B5EF4-FFF2-40B4-BE49-F238E27FC236}">
                <a16:creationId xmlns:a16="http://schemas.microsoft.com/office/drawing/2014/main" id="{82869636-4BD4-4BE3-B510-D090B69FBA08}"/>
              </a:ext>
            </a:extLst>
          </p:cNvPr>
          <p:cNvSpPr>
            <a:spLocks xmlns:a="http://schemas.openxmlformats.org/drawingml/2006/main" noGrp="1"/>
          </p:cNvSpPr>
          <p:nvPr/>
        </p:nvSpPr>
        <p:spPr>
          <a:xfrm xmlns:a="http://schemas.openxmlformats.org/drawingml/2006/main">
            <a:off x="685800" y="1219200"/>
            <a:ext cx="7905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buNone/>
              <a:defRPr sz="3000" b="1">
                <a:solidFill>
                  <a:srgbClr val="262626"/>
                </a:solidFill>
                <a:latin typeface="Arial"/>
                <a:ea typeface="Arial"/>
                <a:cs typeface="Arial"/>
              </a:defRPr>
            </a:pPr>
            <a:r>
              <a:rPr sz="3000" b="1">
                <a:solidFill>
                  <a:srgbClr val="262626"/>
                </a:solidFill>
                <a:latin typeface="Arial"/>
                <a:ea typeface="Arial"/>
                <a:cs typeface="Arial"/>
              </a:rPr>
              <a:t>Demo: communicate, share media</a:t>
            </a:r>
          </a:p>
          <a:p xmlns:a="http://schemas.openxmlformats.org/drawingml/2006/main">
            <a:pPr algn="l">
              <a:buNone/>
              <a:defRPr sz="3000" b="1">
                <a:solidFill>
                  <a:srgbClr val="262626"/>
                </a:solidFill>
                <a:latin typeface="Arial"/>
                <a:ea typeface="Arial"/>
                <a:cs typeface="Arial"/>
              </a:defRPr>
            </a:pPr>
            <a:r>
              <a:rPr sz="3000" b="1">
                <a:solidFill>
                  <a:srgbClr val="262626"/>
                </a:solidFill>
                <a:latin typeface="Arial"/>
                <a:ea typeface="Arial"/>
                <a:cs typeface="Arial"/>
              </a:rPr>
              <a:t>and manage a closed team</a:t>
            </a:r>
          </a:p>
        </p:txBody>
      </p:sp>
      <p:sp>
        <p:nvSpPr>
          <p:cNvPr id="10" name="Demo step 0">
            <a:extLst xmlns:a="http://schemas.openxmlformats.org/drawingml/2006/main">
              <a:ext uri="{FF2B5EF4-FFF2-40B4-BE49-F238E27FC236}">
                <a16:creationId xmlns:a16="http://schemas.microsoft.com/office/drawing/2014/main" id="{BE758D29-9767-4375-B13C-AF1BF703B52A}"/>
              </a:ext>
            </a:extLst>
          </p:cNvPr>
          <p:cNvSpPr>
            <a:spLocks xmlns:a="http://schemas.openxmlformats.org/drawingml/2006/main" noGrp="1"/>
          </p:cNvSpPr>
          <p:nvPr/>
        </p:nvSpPr>
        <p:spPr>
          <a:xfrm xmlns:a="http://schemas.openxmlformats.org/drawingml/2006/main">
            <a:off x="685800" y="2486025"/>
            <a:ext cx="752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buNone/>
              <a:defRPr sz="2025" b="1">
                <a:solidFill>
                  <a:srgbClr val="262626"/>
                </a:solidFill>
                <a:latin typeface="Arial"/>
                <a:ea typeface="Arial"/>
                <a:cs typeface="Arial"/>
              </a:defRPr>
            </a:pPr>
            <a:r>
              <a:rPr sz="2025" b="1">
                <a:solidFill>
                  <a:srgbClr val="262626"/>
                </a:solidFill>
                <a:latin typeface="Arial"/>
                <a:ea typeface="Arial"/>
                <a:cs typeface="Arial"/>
              </a:rPr>
              <a:t>01  Prepare the team</a:t>
            </a:r>
          </a:p>
        </p:txBody>
      </p:sp>
      <p:sp>
        <p:nvSpPr>
          <p:cNvPr id="11" name="Demo action 0">
            <a:extLst xmlns:a="http://schemas.openxmlformats.org/drawingml/2006/main">
              <a:ext uri="{FF2B5EF4-FFF2-40B4-BE49-F238E27FC236}">
                <a16:creationId xmlns:a16="http://schemas.microsoft.com/office/drawing/2014/main" id="{F0768831-346E-40CF-9085-94F257914293}"/>
              </a:ext>
            </a:extLst>
          </p:cNvPr>
          <p:cNvSpPr>
            <a:spLocks xmlns:a="http://schemas.openxmlformats.org/drawingml/2006/main" noGrp="1"/>
          </p:cNvSpPr>
          <p:nvPr/>
        </p:nvSpPr>
        <p:spPr>
          <a:xfrm xmlns:a="http://schemas.openxmlformats.org/drawingml/2006/main">
            <a:off x="685800" y="284797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buNone/>
              <a:defRPr sz="1875" b="0">
                <a:solidFill>
                  <a:srgbClr val="262626"/>
                </a:solidFill>
                <a:latin typeface="Arial"/>
                <a:ea typeface="Arial"/>
                <a:cs typeface="Arial"/>
              </a:defRPr>
            </a:pPr>
            <a:r>
              <a:rPr sz="1875" b="0">
                <a:solidFill>
                  <a:srgbClr val="262626"/>
                </a:solidFill>
                <a:latin typeface="Arial"/>
                <a:ea typeface="Arial"/>
                <a:cs typeface="Arial"/>
              </a:rPr>
              <a:t>Approve two phones, assign channels and inspect online presence.</a:t>
            </a:r>
          </a:p>
        </p:txBody>
      </p:sp>
      <p:sp>
        <p:nvSpPr>
          <p:cNvPr id="12" name="Demo step 1">
            <a:extLst xmlns:a="http://schemas.openxmlformats.org/drawingml/2006/main">
              <a:ext uri="{FF2B5EF4-FFF2-40B4-BE49-F238E27FC236}">
                <a16:creationId xmlns:a16="http://schemas.microsoft.com/office/drawing/2014/main" id="{0B839839-42E0-44B9-B487-3A791917EA56}"/>
              </a:ext>
            </a:extLst>
          </p:cNvPr>
          <p:cNvSpPr>
            <a:spLocks xmlns:a="http://schemas.openxmlformats.org/drawingml/2006/main" noGrp="1"/>
          </p:cNvSpPr>
          <p:nvPr/>
        </p:nvSpPr>
        <p:spPr>
          <a:xfrm xmlns:a="http://schemas.openxmlformats.org/drawingml/2006/main">
            <a:off x="685800" y="3486150"/>
            <a:ext cx="752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buNone/>
              <a:defRPr sz="2025" b="1">
                <a:solidFill>
                  <a:srgbClr val="262626"/>
                </a:solidFill>
                <a:latin typeface="Arial"/>
                <a:ea typeface="Arial"/>
                <a:cs typeface="Arial"/>
              </a:defRPr>
            </a:pPr>
            <a:r>
              <a:rPr sz="2025" b="1">
                <a:solidFill>
                  <a:srgbClr val="262626"/>
                </a:solidFill>
                <a:latin typeface="Arial"/>
                <a:ea typeface="Arial"/>
                <a:cs typeface="Arial"/>
              </a:rPr>
              <a:t>02  Talk, message and share</a:t>
            </a:r>
          </a:p>
        </p:txBody>
      </p:sp>
      <p:sp>
        <p:nvSpPr>
          <p:cNvPr id="13" name="Demo action 1">
            <a:extLst xmlns:a="http://schemas.openxmlformats.org/drawingml/2006/main">
              <a:ext uri="{FF2B5EF4-FFF2-40B4-BE49-F238E27FC236}">
                <a16:creationId xmlns:a16="http://schemas.microsoft.com/office/drawing/2014/main" id="{D2E4FB6D-CCA2-4299-B998-835F468E96A6}"/>
              </a:ext>
            </a:extLst>
          </p:cNvPr>
          <p:cNvSpPr>
            <a:spLocks xmlns:a="http://schemas.openxmlformats.org/drawingml/2006/main" noGrp="1"/>
          </p:cNvSpPr>
          <p:nvPr/>
        </p:nvSpPr>
        <p:spPr>
          <a:xfrm xmlns:a="http://schemas.openxmlformats.org/drawingml/2006/main">
            <a:off x="685800" y="384810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buNone/>
              <a:defRPr sz="1875" b="0">
                <a:solidFill>
                  <a:srgbClr val="262626"/>
                </a:solidFill>
                <a:latin typeface="Arial"/>
                <a:ea typeface="Arial"/>
                <a:cs typeface="Arial"/>
              </a:defRPr>
            </a:pPr>
            <a:r>
              <a:rPr sz="1875" b="0">
                <a:solidFill>
                  <a:srgbClr val="262626"/>
                </a:solidFill>
                <a:latin typeface="Arial"/>
                <a:ea typeface="Arial"/>
                <a:cs typeface="Arial"/>
              </a:rPr>
              <a:t>Use PTT, send text and a photo, then inspect the saved replay.</a:t>
            </a:r>
          </a:p>
        </p:txBody>
      </p:sp>
      <p:sp>
        <p:nvSpPr>
          <p:cNvPr id="14" name="Demo step 2">
            <a:extLst xmlns:a="http://schemas.openxmlformats.org/drawingml/2006/main">
              <a:ext uri="{FF2B5EF4-FFF2-40B4-BE49-F238E27FC236}">
                <a16:creationId xmlns:a16="http://schemas.microsoft.com/office/drawing/2014/main" id="{DFD6AD16-BC1D-409C-94C9-3D73B69D2FD8}"/>
              </a:ext>
            </a:extLst>
          </p:cNvPr>
          <p:cNvSpPr>
            <a:spLocks xmlns:a="http://schemas.openxmlformats.org/drawingml/2006/main" noGrp="1"/>
          </p:cNvSpPr>
          <p:nvPr/>
        </p:nvSpPr>
        <p:spPr>
          <a:xfrm xmlns:a="http://schemas.openxmlformats.org/drawingml/2006/main">
            <a:off x="685800" y="4486275"/>
            <a:ext cx="752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buNone/>
              <a:defRPr sz="2025" b="1">
                <a:solidFill>
                  <a:srgbClr val="262626"/>
                </a:solidFill>
                <a:latin typeface="Arial"/>
                <a:ea typeface="Arial"/>
                <a:cs typeface="Arial"/>
              </a:defRPr>
            </a:pPr>
            <a:r>
              <a:rPr sz="2025" b="1">
                <a:solidFill>
                  <a:srgbClr val="262626"/>
                </a:solidFill>
                <a:latin typeface="Arial"/>
                <a:ea typeface="Arial"/>
                <a:cs typeface="Arial"/>
              </a:rPr>
              <a:t>03  Call and broadcast</a:t>
            </a:r>
          </a:p>
        </p:txBody>
      </p:sp>
      <p:sp>
        <p:nvSpPr>
          <p:cNvPr id="15" name="Demo action 2">
            <a:extLst xmlns:a="http://schemas.openxmlformats.org/drawingml/2006/main">
              <a:ext uri="{FF2B5EF4-FFF2-40B4-BE49-F238E27FC236}">
                <a16:creationId xmlns:a16="http://schemas.microsoft.com/office/drawing/2014/main" id="{EC3696B0-BCEB-45A6-A054-95EA7161E385}"/>
              </a:ext>
            </a:extLst>
          </p:cNvPr>
          <p:cNvSpPr>
            <a:spLocks xmlns:a="http://schemas.openxmlformats.org/drawingml/2006/main" noGrp="1"/>
          </p:cNvSpPr>
          <p:nvPr/>
        </p:nvSpPr>
        <p:spPr>
          <a:xfrm xmlns:a="http://schemas.openxmlformats.org/drawingml/2006/main">
            <a:off x="685800" y="484822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buNone/>
              <a:defRPr sz="1875" b="0">
                <a:solidFill>
                  <a:srgbClr val="262626"/>
                </a:solidFill>
                <a:latin typeface="Arial"/>
                <a:ea typeface="Arial"/>
                <a:cs typeface="Arial"/>
              </a:defRPr>
            </a:pPr>
            <a:r>
              <a:rPr sz="1875" b="0">
                <a:solidFill>
                  <a:srgbClr val="262626"/>
                </a:solidFill>
                <a:latin typeface="Arial"/>
                <a:ea typeface="Arial"/>
                <a:cs typeface="Arial"/>
              </a:rPr>
              <a:t>Show a private call and an admin broadcast to everyone.</a:t>
            </a:r>
          </a:p>
        </p:txBody>
      </p:sp>
      <p:sp>
        <p:nvSpPr>
          <p:cNvPr id="16" name="Demo step 3">
            <a:extLst xmlns:a="http://schemas.openxmlformats.org/drawingml/2006/main">
              <a:ext uri="{FF2B5EF4-FFF2-40B4-BE49-F238E27FC236}">
                <a16:creationId xmlns:a16="http://schemas.microsoft.com/office/drawing/2014/main" id="{C8B43C7C-9162-41FE-806B-9E69F5FDC96B}"/>
              </a:ext>
            </a:extLst>
          </p:cNvPr>
          <p:cNvSpPr>
            <a:spLocks xmlns:a="http://schemas.openxmlformats.org/drawingml/2006/main" noGrp="1"/>
          </p:cNvSpPr>
          <p:nvPr/>
        </p:nvSpPr>
        <p:spPr>
          <a:xfrm xmlns:a="http://schemas.openxmlformats.org/drawingml/2006/main">
            <a:off x="685800" y="5486400"/>
            <a:ext cx="752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2626"/>
                </a:solidFill>
                <a:latin typeface="Arial"/>
                <a:ea typeface="Arial"/>
                <a:cs typeface="Arial"/>
              </a:defRPr>
            </a:defPPr>
          </a:lstStyle>
          <a:p xmlns:a="http://schemas.openxmlformats.org/drawingml/2006/main">
            <a:pPr algn="l">
              <a:buNone/>
              <a:defRPr sz="2025" b="1">
                <a:solidFill>
                  <a:srgbClr val="262626"/>
                </a:solidFill>
                <a:latin typeface="Arial"/>
                <a:ea typeface="Arial"/>
                <a:cs typeface="Arial"/>
              </a:defRPr>
            </a:pPr>
            <a:r>
              <a:rPr sz="2025" b="1">
                <a:solidFill>
                  <a:srgbClr val="262626"/>
                </a:solidFill>
                <a:latin typeface="Arial"/>
                <a:ea typeface="Arial"/>
                <a:cs typeface="Arial"/>
              </a:rPr>
              <a:t>04  Demonstrate recovery</a:t>
            </a:r>
          </a:p>
        </p:txBody>
      </p:sp>
      <p:sp>
        <p:nvSpPr>
          <p:cNvPr id="17" name="Demo action 3">
            <a:extLst xmlns:a="http://schemas.openxmlformats.org/drawingml/2006/main">
              <a:ext uri="{FF2B5EF4-FFF2-40B4-BE49-F238E27FC236}">
                <a16:creationId xmlns:a16="http://schemas.microsoft.com/office/drawing/2014/main" id="{916A39EE-B665-4F5F-82F3-CCAEC364ADDD}"/>
              </a:ext>
            </a:extLst>
          </p:cNvPr>
          <p:cNvSpPr>
            <a:spLocks xmlns:a="http://schemas.openxmlformats.org/drawingml/2006/main" noGrp="1"/>
          </p:cNvSpPr>
          <p:nvPr/>
        </p:nvSpPr>
        <p:spPr>
          <a:xfrm xmlns:a="http://schemas.openxmlformats.org/drawingml/2006/main">
            <a:off x="685800" y="584835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262626"/>
                </a:solidFill>
                <a:latin typeface="Arial"/>
                <a:ea typeface="Arial"/>
                <a:cs typeface="Arial"/>
              </a:defRPr>
            </a:defPPr>
          </a:lstStyle>
          <a:p xmlns:a="http://schemas.openxmlformats.org/drawingml/2006/main">
            <a:pPr algn="l">
              <a:buNone/>
              <a:defRPr sz="1875" b="0">
                <a:solidFill>
                  <a:srgbClr val="262626"/>
                </a:solidFill>
                <a:latin typeface="Arial"/>
                <a:ea typeface="Arial"/>
                <a:cs typeface="Arial"/>
              </a:defRPr>
            </a:pPr>
            <a:r>
              <a:rPr sz="1875" b="0">
                <a:solidFill>
                  <a:srgbClr val="262626"/>
                </a:solidFill>
                <a:latin typeface="Arial"/>
                <a:ea typeface="Arial"/>
                <a:cs typeface="Arial"/>
              </a:rPr>
              <a:t>With Nearby enabled, pause the API, exchange direct TALK/text, restore it and verify sync.</a:t>
            </a:r>
          </a:p>
        </p:txBody>
      </p:sp>
      <p:pic>
        <p:nvPicPr>
          <p:cNvPr id="18" name="">
            <a:extLst xmlns:a="http://schemas.openxmlformats.org/drawingml/2006/main">
              <a:ext uri="{FF2B5EF4-FFF2-40B4-BE49-F238E27FC236}">
                <a16:creationId xmlns:a16="http://schemas.microsoft.com/office/drawing/2014/main" id="{D9D2EDFB-7568-4AC4-A940-9FE9ABBD6FC1}"/>
              </a:ext>
            </a:extLst>
          </p:cNvPr>
          <p:cNvPicPr>
            <a:picLocks xmlns:a="http://schemas.openxmlformats.org/drawingml/2006/main" noChangeAspect="1"/>
          </p:cNvPicPr>
          <p:nvPr/>
        </p:nvPicPr>
        <p:blipFill>
          <a:blip xmlns:r="http://schemas.openxmlformats.org/officeDocument/2006/relationships" xmlns:a="http://schemas.openxmlformats.org/drawingml/2006/main" r:embed="R8937d0552b1d4065"/>
          <a:srcRect xmlns:a="http://schemas.openxmlformats.org/drawingml/2006/main" l="0" t="0" r="0" b="0"/>
          <a:stretch xmlns:a="http://schemas.openxmlformats.org/drawingml/2006/main">
            <a:fillRect l="0" t="0" r="0" b="0"/>
          </a:stretch>
        </p:blipFill>
        <p:spPr>
          <a:xfrm xmlns:a="http://schemas.openxmlformats.org/drawingml/2006/main">
            <a:off x="8972834" y="1219200"/>
            <a:ext cx="2209231" cy="4933950"/>
          </a:xfrm>
          <a:prstGeom xmlns:a="http://schemas.openxmlformats.org/drawingml/2006/main" prst="rect">
            <a:avLst/>
          </a:prstGeom>
        </p:spPr>
      </p:pic>
      <p:sp>
        <p:nvSpPr>
          <p:cNvPr id="19" name="Demo screenshot caption">
            <a:extLst xmlns:a="http://schemas.openxmlformats.org/drawingml/2006/main">
              <a:ext uri="{FF2B5EF4-FFF2-40B4-BE49-F238E27FC236}">
                <a16:creationId xmlns:a16="http://schemas.microsoft.com/office/drawing/2014/main" id="{A240E1E6-230B-4A3E-896E-E89158371DA0}"/>
              </a:ext>
            </a:extLst>
          </p:cNvPr>
          <p:cNvSpPr>
            <a:spLocks xmlns:a="http://schemas.openxmlformats.org/drawingml/2006/main" noGrp="1"/>
          </p:cNvSpPr>
          <p:nvPr/>
        </p:nvSpPr>
        <p:spPr>
          <a:xfrm xmlns:a="http://schemas.openxmlformats.org/drawingml/2006/main">
            <a:off x="8763000" y="6267450"/>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66666"/>
                </a:solidFill>
                <a:latin typeface="Arial"/>
                <a:ea typeface="Arial"/>
                <a:cs typeface="Arial"/>
              </a:defRPr>
            </a:defPPr>
          </a:lstStyle>
          <a:p xmlns:a="http://schemas.openxmlformats.org/drawingml/2006/main">
            <a:pPr algn="l">
              <a:buNone/>
              <a:defRPr sz="1500" b="0">
                <a:solidFill>
                  <a:srgbClr val="666666"/>
                </a:solidFill>
                <a:latin typeface="Arial"/>
                <a:ea typeface="Arial"/>
                <a:cs typeface="Arial"/>
              </a:defRPr>
            </a:pPr>
            <a:r>
              <a:rPr sz="1500" b="0">
                <a:solidFill>
                  <a:srgbClr val="666666"/>
                </a:solidFill>
                <a:latin typeface="Arial"/>
                <a:ea typeface="Arial"/>
                <a:cs typeface="Arial"/>
              </a:rPr>
              <a:t>Hardware PTT and Nearby</a:t>
            </a:r>
          </a:p>
        </p:txBody>
      </p:sp>
    </p:spTree>
    <p:extLst>
      <p:ext uri="{BB962C8B-B14F-4D97-AF65-F5344CB8AC3E}">
        <p14:creationId xmlns:p14="http://schemas.microsoft.com/office/powerpoint/2010/main" val="152577990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4240B35-8928-1435-C70F-8842F31CB568}"/>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9F00631E-DA51-91E2-5F88-8B4B6C022F57}"/>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746A7E8F-CA33-4960-8E7D-38A3CBC2358B}"/>
              </a:ext>
            </a:extLst>
          </p:cNvPr>
          <p:cNvPicPr>
            <a:picLocks xmlns:a="http://schemas.openxmlformats.org/drawingml/2006/main" noChangeAspect="1"/>
          </p:cNvPicPr>
          <p:nvPr/>
        </p:nvPicPr>
        <p:blipFill>
          <a:blip xmlns:r="http://schemas.openxmlformats.org/officeDocument/2006/relationships" xmlns:a="http://schemas.openxmlformats.org/drawingml/2006/main" r:embed="R429c1cd9a780412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D56DBFD6-AD9A-49A9-B561-A6C789F81FD2}"/>
              </a:ext>
            </a:extLst>
          </p:cNvPr>
          <p:cNvPicPr>
            <a:picLocks xmlns:a="http://schemas.openxmlformats.org/drawingml/2006/main" noChangeAspect="1"/>
          </p:cNvPicPr>
          <p:nvPr/>
        </p:nvPicPr>
        <p:blipFill>
          <a:blip xmlns:r="http://schemas.openxmlformats.org/officeDocument/2006/relationships" xmlns:a="http://schemas.openxmlformats.org/drawingml/2006/main" r:embed="Rcdfc2bed42334d5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097EC384-8EF2-B395-37B7-36C6527D8447}"/>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Impact, Feasibility and Scalability</a:t>
            </a:r>
          </a:p>
        </p:txBody>
      </p:sp>
      <p:sp>
        <p:nvSpPr>
          <p:cNvPr id="9" name="Content headline">
            <a:extLst xmlns:a="http://schemas.openxmlformats.org/drawingml/2006/main">
              <a:ext uri="{FF2B5EF4-FFF2-40B4-BE49-F238E27FC236}">
                <a16:creationId xmlns:a16="http://schemas.microsoft.com/office/drawing/2014/main" id="{167A5F5A-A4B8-4E58-97CC-BA6E73E6B29F}"/>
              </a:ext>
            </a:extLst>
          </p:cNvPr>
          <p:cNvSpPr>
            <a:spLocks xmlns:a="http://schemas.openxmlformats.org/drawingml/2006/main" noGrp="1"/>
          </p:cNvSpPr>
          <p:nvPr/>
        </p:nvSpPr>
        <p:spPr>
          <a:xfrm xmlns:a="http://schemas.openxmlformats.org/drawingml/2006/main">
            <a:off x="685800" y="121920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buNone/>
              <a:defRPr sz="3000" b="1">
                <a:solidFill>
                  <a:srgbClr val="262626"/>
                </a:solidFill>
                <a:latin typeface="Arial"/>
                <a:ea typeface="Arial"/>
                <a:cs typeface="Arial"/>
              </a:defRPr>
            </a:pPr>
            <a:r>
              <a:rPr sz="3000" b="1">
                <a:solidFill>
                  <a:srgbClr val="262626"/>
                </a:solidFill>
                <a:latin typeface="Arial"/>
                <a:ea typeface="Arial"/>
                <a:cs typeface="Arial"/>
              </a:rPr>
              <a:t>A working prototype with evidence</a:t>
            </a:r>
          </a:p>
          <a:p xmlns:a="http://schemas.openxmlformats.org/drawingml/2006/main">
            <a:pPr algn="l">
              <a:buNone/>
              <a:defRPr sz="3000" b="1">
                <a:solidFill>
                  <a:srgbClr val="262626"/>
                </a:solidFill>
                <a:latin typeface="Arial"/>
                <a:ea typeface="Arial"/>
                <a:cs typeface="Arial"/>
              </a:defRPr>
            </a:pPr>
            <a:r>
              <a:rPr sz="3000" b="1">
                <a:solidFill>
                  <a:srgbClr val="262626"/>
                </a:solidFill>
                <a:latin typeface="Arial"/>
                <a:ea typeface="Arial"/>
                <a:cs typeface="Arial"/>
              </a:rPr>
              <a:t>and a clear path to venue acceptance</a:t>
            </a:r>
          </a:p>
        </p:txBody>
      </p:sp>
      <p:sp>
        <p:nvSpPr>
          <p:cNvPr id="10" name="Impact section">
            <a:extLst xmlns:a="http://schemas.openxmlformats.org/drawingml/2006/main">
              <a:ext uri="{FF2B5EF4-FFF2-40B4-BE49-F238E27FC236}">
                <a16:creationId xmlns:a16="http://schemas.microsoft.com/office/drawing/2014/main" id="{17B40356-27B9-4AEB-8FD0-07A56811B5F9}"/>
              </a:ext>
            </a:extLst>
          </p:cNvPr>
          <p:cNvSpPr>
            <a:spLocks xmlns:a="http://schemas.openxmlformats.org/drawingml/2006/main" noGrp="1"/>
          </p:cNvSpPr>
          <p:nvPr/>
        </p:nvSpPr>
        <p:spPr>
          <a:xfrm xmlns:a="http://schemas.openxmlformats.org/drawingml/2006/main">
            <a:off x="685800" y="2552700"/>
            <a:ext cx="4905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2626"/>
                </a:solidFill>
                <a:latin typeface="Arial"/>
                <a:ea typeface="Arial"/>
                <a:cs typeface="Arial"/>
              </a:defRPr>
            </a:defPPr>
          </a:lstStyle>
          <a:p xmlns:a="http://schemas.openxmlformats.org/drawingml/2006/main">
            <a:pPr algn="l">
              <a:buNone/>
              <a:defRPr sz="2175" b="1">
                <a:solidFill>
                  <a:srgbClr val="262626"/>
                </a:solidFill>
                <a:latin typeface="Arial"/>
                <a:ea typeface="Arial"/>
                <a:cs typeface="Arial"/>
              </a:defRPr>
            </a:pPr>
            <a:r>
              <a:rPr sz="2175" b="1">
                <a:solidFill>
                  <a:srgbClr val="262626"/>
                </a:solidFill>
                <a:latin typeface="Arial"/>
                <a:ea typeface="Arial"/>
                <a:cs typeface="Arial"/>
              </a:rPr>
              <a:t>Intended operational impact</a:t>
            </a:r>
          </a:p>
        </p:txBody>
      </p:sp>
      <p:sp>
        <p:nvSpPr>
          <p:cNvPr id="11" name="Impact content">
            <a:extLst xmlns:a="http://schemas.openxmlformats.org/drawingml/2006/main">
              <a:ext uri="{FF2B5EF4-FFF2-40B4-BE49-F238E27FC236}">
                <a16:creationId xmlns:a16="http://schemas.microsoft.com/office/drawing/2014/main" id="{994F7E02-5879-46B3-BCE8-6EB8BB41E666}"/>
              </a:ext>
            </a:extLst>
          </p:cNvPr>
          <p:cNvSpPr>
            <a:spLocks xmlns:a="http://schemas.openxmlformats.org/drawingml/2006/main" noGrp="1"/>
          </p:cNvSpPr>
          <p:nvPr/>
        </p:nvSpPr>
        <p:spPr>
          <a:xfrm xmlns:a="http://schemas.openxmlformats.org/drawingml/2006/main">
            <a:off x="685800" y="3124200"/>
            <a:ext cx="493395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262626"/>
                </a:solidFill>
                <a:latin typeface="Arial"/>
                <a:ea typeface="Arial"/>
                <a:cs typeface="Arial"/>
              </a:defRPr>
            </a:defPPr>
          </a:lstStyle>
          <a:p xmlns:a="http://schemas.openxmlformats.org/drawingml/2006/main">
            <a:pPr algn="l">
              <a:buNone/>
              <a:defRPr sz="2025" b="0">
                <a:solidFill>
                  <a:srgbClr val="262626"/>
                </a:solidFill>
                <a:latin typeface="Arial"/>
                <a:ea typeface="Arial"/>
                <a:cs typeface="Arial"/>
              </a:defRPr>
            </a:pPr>
            <a:r>
              <a:rPr sz="2025" b="0">
                <a:solidFill>
                  <a:srgbClr val="262626"/>
                </a:solidFill>
                <a:latin typeface="Arial"/>
                <a:ea typeface="Arial"/>
                <a:cs typeface="Arial"/>
              </a:rPr>
              <a:t>Use staff phones for communication.</a:t>
            </a:r>
          </a:p>
          <a:p xmlns:a="http://schemas.openxmlformats.org/drawingml/2006/main">
            <a:pPr algn="l">
              <a:buNone/>
              <a:defRPr sz="2025" b="0">
                <a:solidFill>
                  <a:srgbClr val="262626"/>
                </a:solidFill>
                <a:latin typeface="Arial"/>
                <a:ea typeface="Arial"/>
                <a:cs typeface="Arial"/>
              </a:defRPr>
            </a:pPr>
          </a:p>
          <a:p xmlns:a="http://schemas.openxmlformats.org/drawingml/2006/main">
            <a:pPr algn="l">
              <a:buNone/>
              <a:defRPr sz="2025" b="0">
                <a:solidFill>
                  <a:srgbClr val="262626"/>
                </a:solidFill>
                <a:latin typeface="Arial"/>
                <a:ea typeface="Arial"/>
                <a:cs typeface="Arial"/>
              </a:defRPr>
            </a:pPr>
            <a:r>
              <a:rPr sz="2025" b="0">
                <a:solidFill>
                  <a:srgbClr val="262626"/>
                </a:solidFill>
                <a:latin typeface="Arial"/>
                <a:ea typeface="Arial"/>
                <a:cs typeface="Arial"/>
              </a:rPr>
              <a:t>Share text, photos and video.</a:t>
            </a:r>
          </a:p>
          <a:p xmlns:a="http://schemas.openxmlformats.org/drawingml/2006/main">
            <a:pPr algn="l">
              <a:buNone/>
              <a:defRPr sz="2025" b="0">
                <a:solidFill>
                  <a:srgbClr val="262626"/>
                </a:solidFill>
                <a:latin typeface="Arial"/>
                <a:ea typeface="Arial"/>
                <a:cs typeface="Arial"/>
              </a:defRPr>
            </a:pPr>
          </a:p>
          <a:p xmlns:a="http://schemas.openxmlformats.org/drawingml/2006/main">
            <a:pPr algn="l">
              <a:buNone/>
              <a:defRPr sz="2025" b="0">
                <a:solidFill>
                  <a:srgbClr val="262626"/>
                </a:solidFill>
                <a:latin typeface="Arial"/>
                <a:ea typeface="Arial"/>
                <a:cs typeface="Arial"/>
              </a:defRPr>
            </a:pPr>
            <a:r>
              <a:rPr sz="2025" b="0">
                <a:solidFill>
                  <a:srgbClr val="262626"/>
                </a:solidFill>
                <a:latin typeface="Arial"/>
                <a:ea typeface="Arial"/>
                <a:cs typeface="Arial"/>
              </a:rPr>
              <a:t>Keep access under administrator control.</a:t>
            </a:r>
          </a:p>
          <a:p xmlns:a="http://schemas.openxmlformats.org/drawingml/2006/main">
            <a:pPr algn="l">
              <a:buNone/>
              <a:defRPr sz="2025" b="0">
                <a:solidFill>
                  <a:srgbClr val="262626"/>
                </a:solidFill>
                <a:latin typeface="Arial"/>
                <a:ea typeface="Arial"/>
                <a:cs typeface="Arial"/>
              </a:defRPr>
            </a:pPr>
          </a:p>
          <a:p xmlns:a="http://schemas.openxmlformats.org/drawingml/2006/main">
            <a:pPr algn="l">
              <a:buNone/>
              <a:defRPr sz="2025" b="0">
                <a:solidFill>
                  <a:srgbClr val="262626"/>
                </a:solidFill>
                <a:latin typeface="Arial"/>
                <a:ea typeface="Arial"/>
                <a:cs typeface="Arial"/>
              </a:defRPr>
            </a:pPr>
            <a:r>
              <a:rPr sz="2025" b="0">
                <a:solidFill>
                  <a:srgbClr val="262626"/>
                </a:solidFill>
                <a:latin typeface="Arial"/>
                <a:ea typeface="Arial"/>
                <a:cs typeface="Arial"/>
              </a:rPr>
              <a:t>Store data on organisation infrastructure.</a:t>
            </a:r>
          </a:p>
        </p:txBody>
      </p:sp>
      <p:sp>
        <p:nvSpPr>
          <p:cNvPr id="12" name="Feasibility section">
            <a:extLst xmlns:a="http://schemas.openxmlformats.org/drawingml/2006/main">
              <a:ext uri="{FF2B5EF4-FFF2-40B4-BE49-F238E27FC236}">
                <a16:creationId xmlns:a16="http://schemas.microsoft.com/office/drawing/2014/main" id="{EB122406-8B81-4CFC-AEED-6AF2B80FD1CF}"/>
              </a:ext>
            </a:extLst>
          </p:cNvPr>
          <p:cNvSpPr>
            <a:spLocks xmlns:a="http://schemas.openxmlformats.org/drawingml/2006/main" noGrp="1"/>
          </p:cNvSpPr>
          <p:nvPr/>
        </p:nvSpPr>
        <p:spPr>
          <a:xfrm xmlns:a="http://schemas.openxmlformats.org/drawingml/2006/main">
            <a:off x="6429375" y="2552700"/>
            <a:ext cx="4962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2626"/>
                </a:solidFill>
                <a:latin typeface="Arial"/>
                <a:ea typeface="Arial"/>
                <a:cs typeface="Arial"/>
              </a:defRPr>
            </a:defPPr>
          </a:lstStyle>
          <a:p xmlns:a="http://schemas.openxmlformats.org/drawingml/2006/main">
            <a:pPr algn="l">
              <a:buNone/>
              <a:defRPr sz="2175" b="1">
                <a:solidFill>
                  <a:srgbClr val="262626"/>
                </a:solidFill>
                <a:latin typeface="Arial"/>
                <a:ea typeface="Arial"/>
                <a:cs typeface="Arial"/>
              </a:defRPr>
            </a:pPr>
            <a:r>
              <a:rPr sz="2175" b="1">
                <a:solidFill>
                  <a:srgbClr val="262626"/>
                </a:solidFill>
                <a:latin typeface="Arial"/>
                <a:ea typeface="Arial"/>
                <a:cs typeface="Arial"/>
              </a:rPr>
              <a:t>Feasibility and scalability</a:t>
            </a:r>
          </a:p>
        </p:txBody>
      </p:sp>
      <p:sp>
        <p:nvSpPr>
          <p:cNvPr id="13" name="Feasibility content">
            <a:extLst xmlns:a="http://schemas.openxmlformats.org/drawingml/2006/main">
              <a:ext uri="{FF2B5EF4-FFF2-40B4-BE49-F238E27FC236}">
                <a16:creationId xmlns:a16="http://schemas.microsoft.com/office/drawing/2014/main" id="{8BE20C42-CFA2-4261-91F0-D891BA474C98}"/>
              </a:ext>
            </a:extLst>
          </p:cNvPr>
          <p:cNvSpPr>
            <a:spLocks xmlns:a="http://schemas.openxmlformats.org/drawingml/2006/main" noGrp="1"/>
          </p:cNvSpPr>
          <p:nvPr/>
        </p:nvSpPr>
        <p:spPr>
          <a:xfrm xmlns:a="http://schemas.openxmlformats.org/drawingml/2006/main">
            <a:off x="6429375" y="3124200"/>
            <a:ext cx="4962525"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262626"/>
                </a:solidFill>
                <a:latin typeface="Arial"/>
                <a:ea typeface="Arial"/>
                <a:cs typeface="Arial"/>
              </a:defRPr>
            </a:defPPr>
          </a:lstStyle>
          <a:p xmlns:a="http://schemas.openxmlformats.org/drawingml/2006/main">
            <a:pPr algn="l">
              <a:buNone/>
              <a:defRPr sz="2025" b="0">
                <a:solidFill>
                  <a:srgbClr val="262626"/>
                </a:solidFill>
                <a:latin typeface="Arial"/>
                <a:ea typeface="Arial"/>
                <a:cs typeface="Arial"/>
              </a:defRPr>
            </a:pPr>
            <a:r>
              <a:rPr sz="2025" b="0">
                <a:solidFill>
                  <a:srgbClr val="262626"/>
                </a:solidFill>
                <a:latin typeface="Arial"/>
                <a:ea typeface="Arial"/>
                <a:cs typeface="Arial"/>
              </a:rPr>
              <a:t>34/34 backend tests passed in the recorded verification run.</a:t>
            </a:r>
          </a:p>
          <a:p xmlns:a="http://schemas.openxmlformats.org/drawingml/2006/main">
            <a:r>
              <a:t/>
            </a:r>
          </a:p>
          <a:p xmlns:a="http://schemas.openxmlformats.org/drawingml/2006/main">
            <a:pPr algn="l">
              <a:buNone/>
              <a:defRPr sz="2025" b="0">
                <a:solidFill>
                  <a:srgbClr val="262626"/>
                </a:solidFill>
                <a:latin typeface="Arial"/>
                <a:ea typeface="Arial"/>
                <a:cs typeface="Arial"/>
              </a:defRPr>
            </a:pPr>
            <a:r>
              <a:rPr sz="2025" b="0">
                <a:solidFill>
                  <a:srgbClr val="262626"/>
                </a:solidFill>
                <a:latin typeface="Arial"/>
                <a:ea typeface="Arial"/>
                <a:cs typeface="Arial"/>
              </a:rPr>
              <a:t>Two physical Android phones completed direct Nearby outage/recovery tests.</a:t>
            </a:r>
          </a:p>
          <a:p xmlns:a="http://schemas.openxmlformats.org/drawingml/2006/main">
            <a:r>
              <a:t/>
            </a:r>
          </a:p>
          <a:p xmlns:a="http://schemas.openxmlformats.org/drawingml/2006/main">
            <a:pPr algn="l">
              <a:buNone/>
              <a:defRPr sz="2025" b="0">
                <a:solidFill>
                  <a:srgbClr val="262626"/>
                </a:solidFill>
                <a:latin typeface="Arial"/>
                <a:ea typeface="Arial"/>
                <a:cs typeface="Arial"/>
              </a:defRPr>
            </a:pPr>
            <a:r>
              <a:rPr sz="2025" b="0">
                <a:solidFill>
                  <a:srgbClr val="262626"/>
                </a:solidFill>
                <a:latin typeface="Arial"/>
                <a:ea typeface="Arial"/>
                <a:cs typeface="Arial"/>
              </a:rPr>
              <a:t>Android, browser and server components have build and device evidence.</a:t>
            </a:r>
          </a:p>
        </p:txBody>
      </p:sp>
      <p:sp>
        <p:nvSpPr>
          <p:cNvPr id="14" name="Scalability qualification">
            <a:extLst xmlns:a="http://schemas.openxmlformats.org/drawingml/2006/main">
              <a:ext uri="{FF2B5EF4-FFF2-40B4-BE49-F238E27FC236}">
                <a16:creationId xmlns:a16="http://schemas.microsoft.com/office/drawing/2014/main" id="{4FA3959F-A437-4249-B6D9-030DF1ABBCDC}"/>
              </a:ext>
            </a:extLst>
          </p:cNvPr>
          <p:cNvSpPr>
            <a:spLocks xmlns:a="http://schemas.openxmlformats.org/drawingml/2006/main" noGrp="1"/>
          </p:cNvSpPr>
          <p:nvPr/>
        </p:nvSpPr>
        <p:spPr>
          <a:xfrm xmlns:a="http://schemas.openxmlformats.org/drawingml/2006/main">
            <a:off x="685800" y="6000750"/>
            <a:ext cx="10687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55555"/>
                </a:solidFill>
                <a:latin typeface="Arial"/>
                <a:ea typeface="Arial"/>
                <a:cs typeface="Arial"/>
              </a:defRPr>
            </a:defPPr>
          </a:lstStyle>
          <a:p xmlns:a="http://schemas.openxmlformats.org/drawingml/2006/main">
            <a:pPr algn="l">
              <a:buNone/>
              <a:defRPr sz="1725" b="0">
                <a:solidFill>
                  <a:srgbClr val="555555"/>
                </a:solidFill>
                <a:latin typeface="Arial"/>
                <a:ea typeface="Arial"/>
                <a:cs typeface="Arial"/>
              </a:defRPr>
            </a:pPr>
            <a:r>
              <a:rPr sz="1725" b="0">
                <a:solidFill>
                  <a:srgbClr val="555555"/>
                </a:solidFill>
                <a:latin typeface="Arial"/>
                <a:ea typeface="Arial"/>
                <a:cs typeface="Arial"/>
              </a:rPr>
              <a:t>Congestion, venue-scale load, radio range and locked-phone behaviour need further acceptance. Direct Nearby is Android fallback, not multi-hop mesh.</a:t>
            </a:r>
          </a:p>
        </p:txBody>
      </p:sp>
    </p:spTree>
    <p:extLst>
      <p:ext uri="{BB962C8B-B14F-4D97-AF65-F5344CB8AC3E}">
        <p14:creationId xmlns:p14="http://schemas.microsoft.com/office/powerpoint/2010/main" val="283934987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8F5926-9B94-82D9-B015-3FD4665505F7}"/>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8E12BB95-8FB5-02E2-58B4-71F167FCAB86}"/>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4306653A-E77B-4468-8369-298D0DB5247B}"/>
              </a:ext>
            </a:extLst>
          </p:cNvPr>
          <p:cNvPicPr>
            <a:picLocks xmlns:a="http://schemas.openxmlformats.org/drawingml/2006/main" noChangeAspect="1"/>
          </p:cNvPicPr>
          <p:nvPr/>
        </p:nvPicPr>
        <p:blipFill>
          <a:blip xmlns:r="http://schemas.openxmlformats.org/officeDocument/2006/relationships" xmlns:a="http://schemas.openxmlformats.org/drawingml/2006/main" r:embed="Rb988f27653a1461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9E0D2B4D-47B3-4CCB-BF77-4C966096A7E8}"/>
              </a:ext>
            </a:extLst>
          </p:cNvPr>
          <p:cNvPicPr>
            <a:picLocks xmlns:a="http://schemas.openxmlformats.org/drawingml/2006/main" noChangeAspect="1"/>
          </p:cNvPicPr>
          <p:nvPr/>
        </p:nvPicPr>
        <p:blipFill>
          <a:blip xmlns:r="http://schemas.openxmlformats.org/officeDocument/2006/relationships" xmlns:a="http://schemas.openxmlformats.org/drawingml/2006/main" r:embed="R8114164c52524cc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690B4AA1-7491-5D09-DD6B-C5DC2215B24E}"/>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Conclusion</a:t>
            </a:r>
          </a:p>
        </p:txBody>
      </p:sp>
      <p:sp>
        <p:nvSpPr>
          <p:cNvPr id="9" name="Content headline">
            <a:extLst xmlns:a="http://schemas.openxmlformats.org/drawingml/2006/main">
              <a:ext uri="{FF2B5EF4-FFF2-40B4-BE49-F238E27FC236}">
                <a16:creationId xmlns:a16="http://schemas.microsoft.com/office/drawing/2014/main" id="{D3643466-2CEE-4C50-9646-5BAB6CBB8475}"/>
              </a:ext>
            </a:extLst>
          </p:cNvPr>
          <p:cNvSpPr>
            <a:spLocks xmlns:a="http://schemas.openxmlformats.org/drawingml/2006/main" noGrp="1"/>
          </p:cNvSpPr>
          <p:nvPr/>
        </p:nvSpPr>
        <p:spPr>
          <a:xfrm xmlns:a="http://schemas.openxmlformats.org/drawingml/2006/main">
            <a:off x="685800" y="121920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1">
                <a:solidFill>
                  <a:srgbClr val="262626"/>
                </a:solidFill>
                <a:latin typeface="Arial"/>
                <a:ea typeface="Arial"/>
                <a:cs typeface="Arial"/>
              </a:defRPr>
            </a:defPPr>
          </a:lstStyle>
          <a:p xmlns:a="http://schemas.openxmlformats.org/drawingml/2006/main">
            <a:pPr algn="l">
              <a:buNone/>
              <a:defRPr sz="3000" b="1">
                <a:solidFill>
                  <a:srgbClr val="262626"/>
                </a:solidFill>
                <a:latin typeface="Arial"/>
                <a:ea typeface="Arial"/>
                <a:cs typeface="Arial"/>
              </a:defRPr>
            </a:pPr>
            <a:r>
              <a:rPr sz="3000" b="1">
                <a:solidFill>
                  <a:srgbClr val="262626"/>
                </a:solidFill>
                <a:latin typeface="Arial"/>
                <a:ea typeface="Arial"/>
                <a:cs typeface="Arial"/>
              </a:rPr>
              <a:t>Kettoo brings private staff</a:t>
            </a:r>
          </a:p>
          <a:p xmlns:a="http://schemas.openxmlformats.org/drawingml/2006/main">
            <a:pPr algn="l">
              <a:buNone/>
              <a:defRPr sz="3000" b="1">
                <a:solidFill>
                  <a:srgbClr val="262626"/>
                </a:solidFill>
                <a:latin typeface="Arial"/>
                <a:ea typeface="Arial"/>
                <a:cs typeface="Arial"/>
              </a:defRPr>
            </a:pPr>
            <a:r>
              <a:rPr sz="3000" b="1">
                <a:solidFill>
                  <a:srgbClr val="262626"/>
                </a:solidFill>
                <a:latin typeface="Arial"/>
                <a:ea typeface="Arial"/>
                <a:cs typeface="Arial"/>
              </a:rPr>
              <a:t>communication onto existing phones</a:t>
            </a:r>
          </a:p>
        </p:txBody>
      </p:sp>
      <p:sp>
        <p:nvSpPr>
          <p:cNvPr id="10" name="Conclusion statement">
            <a:extLst xmlns:a="http://schemas.openxmlformats.org/drawingml/2006/main">
              <a:ext uri="{FF2B5EF4-FFF2-40B4-BE49-F238E27FC236}">
                <a16:creationId xmlns:a16="http://schemas.microsoft.com/office/drawing/2014/main" id="{EB162C25-1E2F-4260-B219-2A7967A455FB}"/>
              </a:ext>
            </a:extLst>
          </p:cNvPr>
          <p:cNvSpPr>
            <a:spLocks xmlns:a="http://schemas.openxmlformats.org/drawingml/2006/main" noGrp="1"/>
          </p:cNvSpPr>
          <p:nvPr/>
        </p:nvSpPr>
        <p:spPr>
          <a:xfrm xmlns:a="http://schemas.openxmlformats.org/drawingml/2006/main">
            <a:off x="685800" y="2667000"/>
            <a:ext cx="106489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0">
                <a:solidFill>
                  <a:srgbClr val="262626"/>
                </a:solidFill>
                <a:latin typeface="Arial"/>
                <a:ea typeface="Arial"/>
                <a:cs typeface="Arial"/>
              </a:defRPr>
            </a:defPPr>
          </a:lstStyle>
          <a:p xmlns:a="http://schemas.openxmlformats.org/drawingml/2006/main">
            <a:pPr algn="l">
              <a:buNone/>
              <a:defRPr sz="2400" b="0">
                <a:solidFill>
                  <a:srgbClr val="262626"/>
                </a:solidFill>
                <a:latin typeface="Arial"/>
                <a:ea typeface="Arial"/>
                <a:cs typeface="Arial"/>
              </a:defRPr>
            </a:pPr>
            <a:r>
              <a:rPr sz="2400" b="0">
                <a:solidFill>
                  <a:srgbClr val="262626"/>
                </a:solidFill>
                <a:latin typeface="Arial"/>
                <a:ea typeface="Arial"/>
                <a:cs typeface="Arial"/>
              </a:rPr>
              <a:t>Kettoo combines PTT, chat, media sharing and private calls with administrator-controlled membership and broadcasts, on organisation-owned infrastructure.</a:t>
            </a:r>
          </a:p>
        </p:txBody>
      </p:sp>
      <p:sp>
        <p:nvSpPr>
          <p:cNvPr id="11" name="Conclusion strengths label">
            <a:extLst xmlns:a="http://schemas.openxmlformats.org/drawingml/2006/main">
              <a:ext uri="{FF2B5EF4-FFF2-40B4-BE49-F238E27FC236}">
                <a16:creationId xmlns:a16="http://schemas.microsoft.com/office/drawing/2014/main" id="{EA67FF76-9C4E-4409-AD78-E01F5BE6C323}"/>
              </a:ext>
            </a:extLst>
          </p:cNvPr>
          <p:cNvSpPr>
            <a:spLocks xmlns:a="http://schemas.openxmlformats.org/drawingml/2006/main" noGrp="1"/>
          </p:cNvSpPr>
          <p:nvPr/>
        </p:nvSpPr>
        <p:spPr>
          <a:xfrm xmlns:a="http://schemas.openxmlformats.org/drawingml/2006/main">
            <a:off x="685800" y="40767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2626"/>
                </a:solidFill>
                <a:latin typeface="Arial"/>
                <a:ea typeface="Arial"/>
                <a:cs typeface="Arial"/>
              </a:defRPr>
            </a:defPPr>
          </a:lstStyle>
          <a:p xmlns:a="http://schemas.openxmlformats.org/drawingml/2006/main">
            <a:pPr algn="l">
              <a:buNone/>
              <a:defRPr sz="2175" b="1">
                <a:solidFill>
                  <a:srgbClr val="262626"/>
                </a:solidFill>
                <a:latin typeface="Arial"/>
                <a:ea typeface="Arial"/>
                <a:cs typeface="Arial"/>
              </a:defRPr>
            </a:pPr>
            <a:r>
              <a:rPr sz="2175" b="1">
                <a:solidFill>
                  <a:srgbClr val="262626"/>
                </a:solidFill>
                <a:latin typeface="Arial"/>
                <a:ea typeface="Arial"/>
                <a:cs typeface="Arial"/>
              </a:rPr>
              <a:t>Core strengths</a:t>
            </a:r>
          </a:p>
        </p:txBody>
      </p:sp>
      <p:sp>
        <p:nvSpPr>
          <p:cNvPr id="12" name="Conclusion strengths">
            <a:extLst xmlns:a="http://schemas.openxmlformats.org/drawingml/2006/main">
              <a:ext uri="{FF2B5EF4-FFF2-40B4-BE49-F238E27FC236}">
                <a16:creationId xmlns:a16="http://schemas.microsoft.com/office/drawing/2014/main" id="{542FFF8C-1ACF-48DD-8A94-F2E216EED7E7}"/>
              </a:ext>
            </a:extLst>
          </p:cNvPr>
          <p:cNvSpPr>
            <a:spLocks xmlns:a="http://schemas.openxmlformats.org/drawingml/2006/main" noGrp="1"/>
          </p:cNvSpPr>
          <p:nvPr/>
        </p:nvSpPr>
        <p:spPr>
          <a:xfrm xmlns:a="http://schemas.openxmlformats.org/drawingml/2006/main">
            <a:off x="685800" y="4572000"/>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262626"/>
                </a:solidFill>
                <a:latin typeface="Arial"/>
                <a:ea typeface="Arial"/>
                <a:cs typeface="Arial"/>
              </a:defRPr>
            </a:defPPr>
          </a:lstStyle>
          <a:p xmlns:a="http://schemas.openxmlformats.org/drawingml/2006/main">
            <a:pPr algn="l">
              <a:buNone/>
              <a:defRPr sz="2175" b="0">
                <a:solidFill>
                  <a:srgbClr val="262626"/>
                </a:solidFill>
                <a:latin typeface="Arial"/>
                <a:ea typeface="Arial"/>
                <a:cs typeface="Arial"/>
              </a:defRPr>
            </a:pPr>
            <a:r>
              <a:rPr sz="2175" b="0">
                <a:solidFill>
                  <a:srgbClr val="262626"/>
                </a:solidFill>
                <a:latin typeface="Arial"/>
                <a:ea typeface="Arial"/>
                <a:cs typeface="Arial"/>
              </a:rPr>
              <a:t>Voice and messaging in one interface.</a:t>
            </a:r>
          </a:p>
          <a:p xmlns:a="http://schemas.openxmlformats.org/drawingml/2006/main">
            <a:pPr algn="l">
              <a:buNone/>
              <a:defRPr sz="2175" b="0">
                <a:solidFill>
                  <a:srgbClr val="262626"/>
                </a:solidFill>
                <a:latin typeface="Arial"/>
                <a:ea typeface="Arial"/>
                <a:cs typeface="Arial"/>
              </a:defRPr>
            </a:pPr>
            <a:r>
              <a:rPr sz="2175" b="0">
                <a:solidFill>
                  <a:srgbClr val="262626"/>
                </a:solidFill>
                <a:latin typeface="Arial"/>
                <a:ea typeface="Arial"/>
                <a:cs typeface="Arial"/>
              </a:rPr>
              <a:t>Closed access and organisation-hosted storage.</a:t>
            </a:r>
          </a:p>
          <a:p xmlns:a="http://schemas.openxmlformats.org/drawingml/2006/main">
            <a:pPr algn="l">
              <a:buNone/>
              <a:defRPr sz="2175" b="0">
                <a:solidFill>
                  <a:srgbClr val="262626"/>
                </a:solidFill>
                <a:latin typeface="Arial"/>
                <a:ea typeface="Arial"/>
                <a:cs typeface="Arial"/>
              </a:defRPr>
            </a:pPr>
            <a:r>
              <a:rPr sz="2175" b="0">
                <a:solidFill>
                  <a:srgbClr val="262626"/>
                </a:solidFill>
                <a:latin typeface="Arial"/>
                <a:ea typeface="Arial"/>
                <a:cs typeface="Arial"/>
              </a:rPr>
              <a:t>Local queues and direct Android Nearby fallback.</a:t>
            </a:r>
          </a:p>
        </p:txBody>
      </p:sp>
      <p:sp>
        <p:nvSpPr>
          <p:cNvPr id="13" name="Conclusion next milestone">
            <a:extLst xmlns:a="http://schemas.openxmlformats.org/drawingml/2006/main">
              <a:ext uri="{FF2B5EF4-FFF2-40B4-BE49-F238E27FC236}">
                <a16:creationId xmlns:a16="http://schemas.microsoft.com/office/drawing/2014/main" id="{704850FF-4935-4C6B-86BB-2EC9A421BC69}"/>
              </a:ext>
            </a:extLst>
          </p:cNvPr>
          <p:cNvSpPr>
            <a:spLocks xmlns:a="http://schemas.openxmlformats.org/drawingml/2006/main" noGrp="1"/>
          </p:cNvSpPr>
          <p:nvPr/>
        </p:nvSpPr>
        <p:spPr>
          <a:xfrm xmlns:a="http://schemas.openxmlformats.org/drawingml/2006/main">
            <a:off x="685800" y="5991225"/>
            <a:ext cx="10620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55555"/>
                </a:solidFill>
                <a:latin typeface="Arial"/>
                <a:ea typeface="Arial"/>
                <a:cs typeface="Arial"/>
              </a:defRPr>
            </a:defPPr>
          </a:lstStyle>
          <a:p xmlns:a="http://schemas.openxmlformats.org/drawingml/2006/main">
            <a:pPr algn="l">
              <a:buNone/>
              <a:defRPr sz="1800" b="0">
                <a:solidFill>
                  <a:srgbClr val="555555"/>
                </a:solidFill>
                <a:latin typeface="Arial"/>
                <a:ea typeface="Arial"/>
                <a:cs typeface="Arial"/>
              </a:defRPr>
            </a:pPr>
            <a:r>
              <a:rPr sz="1800" b="0">
                <a:solidFill>
                  <a:srgbClr val="555555"/>
                </a:solidFill>
                <a:latin typeface="Arial"/>
                <a:ea typeface="Arial"/>
                <a:cs typeface="Arial"/>
              </a:rPr>
              <a:t>Next milestone: validate congestion, patchy connectivity and locked-phone behaviour, then prepare a signed release and organisation deployment.</a:t>
            </a:r>
          </a:p>
        </p:txBody>
      </p:sp>
    </p:spTree>
    <p:extLst>
      <p:ext uri="{BB962C8B-B14F-4D97-AF65-F5344CB8AC3E}">
        <p14:creationId xmlns:p14="http://schemas.microsoft.com/office/powerpoint/2010/main" val="365594326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2026-10-10T03:14:17.1340000Z</dcterms:created>
  <dcterms:modified xsi:type="dcterms:W3CDTF">2026-10-10T03:14:17.1340000Z</dcterms:modified>
</coreProperties>
</file>